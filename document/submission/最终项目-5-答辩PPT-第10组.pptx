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71" r:id="rId10"/>
    <p:sldId id="272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tags" Target="../tags/tag21.xml"/><Relationship Id="rId22" Type="http://schemas.openxmlformats.org/officeDocument/2006/relationships/tags" Target="../tags/tag22.xml"/><Relationship Id="rId23" Type="http://schemas.openxmlformats.org/officeDocument/2006/relationships/tags" Target="../tags/tag23.xml"/><Relationship Id="rId24" Type="http://schemas.openxmlformats.org/officeDocument/2006/relationships/tags" Target="../tags/tag24.xml"/><Relationship Id="rId25" Type="http://schemas.openxmlformats.org/officeDocument/2006/relationships/tags" Target="../tags/tag25.xml"/><Relationship Id="rId26" Type="http://schemas.openxmlformats.org/officeDocument/2006/relationships/tags" Target="../tags/tag26.xml"/><Relationship Id="rId27" Type="http://schemas.openxmlformats.org/officeDocument/2006/relationships/tags" Target="../tags/tag27.xml"/><Relationship Id="rId28" Type="http://schemas.openxmlformats.org/officeDocument/2006/relationships/tags" Target="../tags/tag28.xml"/><Relationship Id="rId29" Type="http://schemas.openxmlformats.org/officeDocument/2006/relationships/tags" Target="../tags/tag29.xml"/><Relationship Id="rId30" Type="http://schemas.openxmlformats.org/officeDocument/2006/relationships/tags" Target="../tags/tag30.xml"/><Relationship Id="rId31" Type="http://schemas.openxmlformats.org/officeDocument/2006/relationships/tags" Target="../tags/tag31.xml"/><Relationship Id="rId32" Type="http://schemas.openxmlformats.org/officeDocument/2006/relationships/tags" Target="../tags/tag32.xml"/><Relationship Id="rId33" Type="http://schemas.openxmlformats.org/officeDocument/2006/relationships/tags" Target="../tags/tag33.xml"/><Relationship Id="rId34" Type="http://schemas.openxmlformats.org/officeDocument/2006/relationships/tags" Target="../tags/tag34.xml"/><Relationship Id="rId35" Type="http://schemas.openxmlformats.org/officeDocument/2006/relationships/tags" Target="../tags/tag35.xml"/><Relationship Id="rId36" Type="http://schemas.openxmlformats.org/officeDocument/2006/relationships/tags" Target="../tags/tag36.xml"/><Relationship Id="rId37" Type="http://schemas.openxmlformats.org/officeDocument/2006/relationships/tags" Target="../tags/tag37.xml"/><Relationship Id="rId38" Type="http://schemas.openxmlformats.org/officeDocument/2006/relationships/tags" Target="../tags/tag38.xml"/><Relationship Id="rId39" Type="http://schemas.openxmlformats.org/officeDocument/2006/relationships/tags" Target="../tags/tag39.xml"/><Relationship Id="rId40" Type="http://schemas.openxmlformats.org/officeDocument/2006/relationships/tags" Target="../tags/tag40.xml"/><Relationship Id="rId41" Type="http://schemas.openxmlformats.org/officeDocument/2006/relationships/tags" Target="../tags/tag41.xml"/><Relationship Id="rId42" Type="http://schemas.openxmlformats.org/officeDocument/2006/relationships/tags" Target="../tags/tag42.xml"/><Relationship Id="rId43" Type="http://schemas.openxmlformats.org/officeDocument/2006/relationships/tags" Target="../tags/tag43.xml"/><Relationship Id="rId44" Type="http://schemas.openxmlformats.org/officeDocument/2006/relationships/tags" Target="../tags/tag44.xml"/><Relationship Id="rId45" Type="http://schemas.openxmlformats.org/officeDocument/2006/relationships/tags" Target="../tags/tag45.xml"/><Relationship Id="rId46" Type="http://schemas.openxmlformats.org/officeDocument/2006/relationships/tags" Target="../tags/tag46.xml"/><Relationship Id="rId47" Type="http://schemas.openxmlformats.org/officeDocument/2006/relationships/tags" Target="../tags/tag47.xml"/><Relationship Id="rId48" Type="http://schemas.openxmlformats.org/officeDocument/2006/relationships/tags" Target="../tags/tag48.xml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548640"/>
            <a:ext cx="3200400" cy="3200400"/>
          </a:xfrm>
          <a:prstGeom prst="ellipse">
            <a:avLst/>
          </a:prstGeom>
          <a:solidFill>
            <a:srgbClr val="F29D38">
              <a:alpha val="70000"/>
            </a:srgbClr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772400" y="1645920"/>
            <a:ext cx="2560320" cy="2560320"/>
          </a:xfrm>
          <a:prstGeom prst="ellipse">
            <a:avLst/>
          </a:prstGeom>
          <a:solidFill>
            <a:srgbClr val="57A4B9">
              <a:alpha val="50000"/>
            </a:srgbClr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132320" y="3200400"/>
            <a:ext cx="1828800" cy="1828800"/>
          </a:xfrm>
          <a:prstGeom prst="ellipse">
            <a:avLst/>
          </a:prstGeom>
          <a:solidFill>
            <a:srgbClr val="57A4B9">
              <a:alpha val="30000"/>
            </a:srgbClr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0" y="-274320"/>
            <a:ext cx="1097280" cy="1097280"/>
          </a:xfrm>
          <a:prstGeom prst="ellipse">
            <a:avLst/>
          </a:prstGeom>
          <a:solidFill>
            <a:srgbClr val="F29D38">
              <a:alpha val="40000"/>
            </a:srgbClr>
          </a:solidFill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0" y="2743200"/>
            <a:ext cx="274320" cy="731520"/>
          </a:xfrm>
          <a:prstGeom prst="roundRect">
            <a:avLst>
              <a:gd name="adj" fmla="val 16667"/>
            </a:avLst>
          </a:prstGeom>
          <a:solidFill>
            <a:srgbClr val="F05F42">
              <a:alpha val="60000"/>
            </a:srgbClr>
          </a:solidFill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97280"/>
            <a:ext cx="54864" cy="1508760"/>
          </a:xfrm>
          <a:prstGeom prst="rect">
            <a:avLst/>
          </a:prstGeom>
          <a:solidFill>
            <a:srgbClr val="F29D38"/>
          </a:solidFill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Prometheus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29D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技能时间银行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以时间币为核心的技能互助平台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第10组  |  指导教师：刘德才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BBB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海南大学课程设计答辩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1645920" cy="1645920"/>
          </a:xfrm>
          <a:prstGeom prst="ellipse">
            <a:avLst/>
          </a:prstGeom>
          <a:solidFill>
            <a:srgbClr val="F29D38">
              <a:alpha val="30000"/>
            </a:srgbClr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229600" y="3474720"/>
            <a:ext cx="1828800" cy="1828800"/>
          </a:xfrm>
          <a:prstGeom prst="ellipse">
            <a:avLst/>
          </a:prstGeom>
          <a:solidFill>
            <a:srgbClr val="57A4B9">
              <a:alpha val="20000"/>
            </a:srgbClr>
          </a:solidFill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0" y="365760"/>
            <a:ext cx="9144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645920" y="1600200"/>
            <a:ext cx="685800" cy="685800"/>
          </a:xfrm>
          <a:prstGeom prst="ellipse">
            <a:avLst/>
          </a:prstGeom>
          <a:solidFill>
            <a:srgbClr val="F29D38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645920" y="1600200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0" y="1572768"/>
            <a:ext cx="4754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项目概述与团队分工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560320" y="196596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项目背景、核心功能、团队成员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2651760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645920" y="2788920"/>
            <a:ext cx="685800" cy="685800"/>
          </a:xfrm>
          <a:prstGeom prst="ellipse">
            <a:avLst/>
          </a:prstGeom>
          <a:solidFill>
            <a:srgbClr val="57A4B9"/>
          </a:solidFill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645920" y="2788920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2761488"/>
            <a:ext cx="4754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技术架构与核心设计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2560320" y="315468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技术栈、架构设计、数据库、关键亮点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3840480"/>
            <a:ext cx="6400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645920" y="3977640"/>
            <a:ext cx="685800" cy="685800"/>
          </a:xfrm>
          <a:prstGeom prst="ellipse">
            <a:avLst/>
          </a:prstGeom>
          <a:solidFill>
            <a:srgbClr val="F05F42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645920" y="3977640"/>
            <a:ext cx="685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560320" y="3950208"/>
            <a:ext cx="4754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项目总结与展望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2560320" y="434340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项目成果、AI辅助开发、未来规划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F29D38">
              <a:alpha val="15000"/>
            </a:srgbClr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371600" y="-457200"/>
            <a:ext cx="1463040" cy="1463040"/>
          </a:xfrm>
          <a:prstGeom prst="ellipse">
            <a:avLst/>
          </a:prstGeom>
          <a:solidFill>
            <a:srgbClr val="F29D38">
              <a:alpha val="25000"/>
            </a:srgbClr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73152" cy="1463040"/>
          </a:xfrm>
          <a:prstGeom prst="roundRect">
            <a:avLst>
              <a:gd name="adj" fmla="val 62500"/>
            </a:avLst>
          </a:prstGeom>
          <a:solidFill>
            <a:srgbClr val="57A4B9">
              <a:alpha val="80000"/>
            </a:srgbClr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097280"/>
            <a:ext cx="22860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29D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5029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85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项目概述与团队分工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0" y="210312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OVERVIEW &amp; TEAM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项目背景与意义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在大学生群体中，技能不对称现象普遍存在——有人擅长设计却闲置能力，有人急需技术指导却无从获取。如何有效连接技能供给与需求，让每个人的才华都能产生价值？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05F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痛点分析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240280"/>
            <a:ext cx="3108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技能闲置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487168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✕ 大量技能持有者没有变现渠道，能力被困置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862072"/>
            <a:ext cx="3108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交易门槛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✕ 传统技能交易流程复杂，时间成本与金钱成本高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483864"/>
            <a:ext cx="3108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信任缺失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730752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✕ 陌生人之间缺乏信用背书，交易风险难以评估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7A4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我们的方案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937760" y="2103120"/>
            <a:ext cx="347472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2240280"/>
            <a:ext cx="3108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时间币体系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2487168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以时间币为纽带，让每个人的技能都有价值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2862072"/>
            <a:ext cx="3108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共享平台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3108960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一站式技能发布与交易，降低中间成本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3483864"/>
            <a:ext cx="3108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信誉机制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3730752"/>
            <a:ext cx="3108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双盲评价+四维雷达图，建立可信社区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0" y="731520"/>
            <a:ext cx="914400" cy="914400"/>
          </a:xfrm>
          <a:prstGeom prst="ellipse">
            <a:avLst/>
          </a:prstGeom>
          <a:solidFill>
            <a:srgbClr val="57A4B9">
              <a:alpha val="20000"/>
            </a:srgbClr>
          </a:solidFill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74320" y="3840480"/>
            <a:ext cx="640080" cy="640080"/>
          </a:xfrm>
          <a:prstGeom prst="ellipse">
            <a:avLst/>
          </a:prstGeom>
          <a:solidFill>
            <a:srgbClr val="F05F42">
              <a:alpha val="20000"/>
            </a:srgbClr>
          </a:solidFill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31520" y="4297680"/>
            <a:ext cx="7680960" cy="411480"/>
          </a:xfrm>
          <a:prstGeom prst="roundRect">
            <a:avLst>
              <a:gd name="adj" fmla="val 22222"/>
            </a:avLst>
          </a:prstGeom>
          <a:solidFill>
            <a:srgbClr val="FDE8D0"/>
          </a:solidFill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1520" y="4297680"/>
            <a:ext cx="7680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9D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学你想学，教你想教，一个用时间币串起技能供需的互助社区。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团队分工</a:t>
            </a:r>
            <a:endParaRPr lang="en-US" sz="3000" dirty="0"/>
          </a:p>
        </p:txBody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731520" y="1143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707380" y="1298448"/>
            <a:ext cx="1145560" cy="689458"/>
          </a:xfrm>
          <a:prstGeom prst="ellipse">
            <a:avLst/>
          </a:prstGeom>
          <a:solidFill>
            <a:srgbClr val="3D1C0A"/>
          </a:solidFill>
        </p:spPr>
        <p:txBody>
          <a:bodyPr/>
          <a:p/>
        </p:txBody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749808" y="1298448"/>
            <a:ext cx="1060704" cy="1060704"/>
          </a:xfrm>
          <a:prstGeom prst="ellipse">
            <a:avLst/>
          </a:prstGeom>
          <a:solidFill>
            <a:srgbClr val="FFE0C0"/>
          </a:solidFill>
        </p:spPr>
        <p:txBody>
          <a:bodyPr/>
          <a:p/>
        </p:txBody>
      </p:sp>
      <p:sp>
        <p:nvSpPr>
          <p:cNvPr id="6" name="Shape 4"/>
          <p:cNvSpPr/>
          <p:nvPr>
            <p:custDataLst>
              <p:tags r:id="rId4"/>
            </p:custDataLst>
          </p:nvPr>
        </p:nvSpPr>
        <p:spPr>
          <a:xfrm>
            <a:off x="1094537" y="1733337"/>
            <a:ext cx="95463" cy="95463"/>
          </a:xfrm>
          <a:prstGeom prst="ellipse">
            <a:avLst/>
          </a:prstGeom>
          <a:solidFill>
            <a:srgbClr val="2C1810"/>
          </a:solidFill>
        </p:spPr>
        <p:txBody>
          <a:bodyPr/>
          <a:p/>
        </p:txBody>
      </p:sp>
      <p:sp>
        <p:nvSpPr>
          <p:cNvPr id="7" name="Shape 5"/>
          <p:cNvSpPr/>
          <p:nvPr>
            <p:custDataLst>
              <p:tags r:id="rId5"/>
            </p:custDataLst>
          </p:nvPr>
        </p:nvSpPr>
        <p:spPr>
          <a:xfrm>
            <a:off x="1370320" y="1733337"/>
            <a:ext cx="95463" cy="95463"/>
          </a:xfrm>
          <a:prstGeom prst="ellipse">
            <a:avLst/>
          </a:prstGeom>
          <a:solidFill>
            <a:srgbClr val="2C1810"/>
          </a:solidFill>
        </p:spPr>
        <p:txBody>
          <a:bodyPr/>
          <a:p/>
        </p:txBody>
      </p:sp>
      <p:sp>
        <p:nvSpPr>
          <p:cNvPr id="8" name="Shape 6"/>
          <p:cNvSpPr/>
          <p:nvPr>
            <p:custDataLst>
              <p:tags r:id="rId6"/>
            </p:custDataLst>
          </p:nvPr>
        </p:nvSpPr>
        <p:spPr>
          <a:xfrm>
            <a:off x="988466" y="1871228"/>
            <a:ext cx="106070" cy="79553"/>
          </a:xfrm>
          <a:prstGeom prst="ellipse">
            <a:avLst/>
          </a:prstGeom>
          <a:solidFill>
            <a:srgbClr val="FF8A80">
              <a:alpha val="60000"/>
            </a:srgbClr>
          </a:solidFill>
        </p:spPr>
        <p:txBody>
          <a:bodyPr/>
          <a:p/>
        </p:txBody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1465783" y="1871228"/>
            <a:ext cx="106070" cy="79553"/>
          </a:xfrm>
          <a:prstGeom prst="ellipse">
            <a:avLst/>
          </a:prstGeom>
          <a:solidFill>
            <a:srgbClr val="FF8A80">
              <a:alpha val="60000"/>
            </a:srgbClr>
          </a:solidFill>
        </p:spPr>
        <p:txBody>
          <a:bodyPr/>
          <a:p/>
        </p:txBody>
      </p:sp>
      <p:sp>
        <p:nvSpPr>
          <p:cNvPr id="10" name="Shape 8"/>
          <p:cNvSpPr/>
          <p:nvPr>
            <p:custDataLst>
              <p:tags r:id="rId8"/>
            </p:custDataLst>
          </p:nvPr>
        </p:nvSpPr>
        <p:spPr>
          <a:xfrm>
            <a:off x="1147572" y="1908353"/>
            <a:ext cx="265176" cy="95463"/>
          </a:xfrm>
          <a:prstGeom prst="ellipse">
            <a:avLst/>
          </a:prstGeom>
          <a:solidFill>
            <a:srgbClr val="E8907A">
              <a:alpha val="70000"/>
            </a:srgbClr>
          </a:solidFill>
        </p:spPr>
        <p:txBody>
          <a:bodyPr/>
          <a:p/>
        </p:txBody>
      </p:sp>
      <p:sp>
        <p:nvSpPr>
          <p:cNvPr id="11" name="Shape 9"/>
          <p:cNvSpPr/>
          <p:nvPr>
            <p:custDataLst>
              <p:tags r:id="rId9"/>
            </p:custDataLst>
          </p:nvPr>
        </p:nvSpPr>
        <p:spPr>
          <a:xfrm>
            <a:off x="1121054" y="1871228"/>
            <a:ext cx="318211" cy="132588"/>
          </a:xfrm>
          <a:prstGeom prst="ellipse">
            <a:avLst/>
          </a:prstGeom>
          <a:solidFill>
            <a:srgbClr val="FFE0C0"/>
          </a:solidFill>
        </p:spPr>
        <p:txBody>
          <a:bodyPr/>
          <a:p/>
        </p:txBody>
      </p:sp>
      <p:sp>
        <p:nvSpPr>
          <p:cNvPr id="12" name="Text 10"/>
          <p:cNvSpPr/>
          <p:nvPr>
            <p:custDataLst>
              <p:tags r:id="rId10"/>
            </p:custDataLst>
          </p:nvPr>
        </p:nvSpPr>
        <p:spPr>
          <a:xfrm>
            <a:off x="1920240" y="146304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郑朴</a:t>
            </a:r>
            <a:endParaRPr lang="en-US" sz="1700" dirty="0"/>
          </a:p>
        </p:txBody>
      </p:sp>
      <p:sp>
        <p:nvSpPr>
          <p:cNvPr id="13" name="Text 11"/>
          <p:cNvSpPr/>
          <p:nvPr>
            <p:custDataLst>
              <p:tags r:id="rId11"/>
            </p:custDataLst>
          </p:nvPr>
        </p:nvSpPr>
        <p:spPr>
          <a:xfrm>
            <a:off x="1920240" y="1764792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29D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项目负责人</a:t>
            </a:r>
            <a:endParaRPr lang="en-US" sz="1200" dirty="0"/>
          </a:p>
        </p:txBody>
      </p:sp>
      <p:sp>
        <p:nvSpPr>
          <p:cNvPr id="14" name="Text 12"/>
          <p:cNvSpPr/>
          <p:nvPr>
            <p:custDataLst>
              <p:tags r:id="rId12"/>
            </p:custDataLst>
          </p:nvPr>
        </p:nvSpPr>
        <p:spPr>
          <a:xfrm>
            <a:off x="1932940" y="2072640"/>
            <a:ext cx="2004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负责整体需求分析与功能规划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制定开发计划与进度管理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协调团队任务、把控项目方向</a:t>
            </a:r>
            <a:endParaRPr lang="en-US" sz="1000" dirty="0"/>
          </a:p>
        </p:txBody>
      </p:sp>
      <p:sp>
        <p:nvSpPr>
          <p:cNvPr id="15" name="Shape 13"/>
          <p:cNvSpPr/>
          <p:nvPr>
            <p:custDataLst>
              <p:tags r:id="rId13"/>
            </p:custDataLst>
          </p:nvPr>
        </p:nvSpPr>
        <p:spPr>
          <a:xfrm>
            <a:off x="4663440" y="1143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>
            <p:custDataLst>
              <p:tags r:id="rId14"/>
            </p:custDataLst>
          </p:nvPr>
        </p:nvSpPr>
        <p:spPr>
          <a:xfrm>
            <a:off x="4639300" y="1298448"/>
            <a:ext cx="1145560" cy="689458"/>
          </a:xfrm>
          <a:prstGeom prst="ellipse">
            <a:avLst/>
          </a:prstGeom>
          <a:solidFill>
            <a:srgbClr val="1A1A2E"/>
          </a:solidFill>
        </p:spPr>
        <p:txBody>
          <a:bodyPr/>
          <a:p/>
        </p:txBody>
      </p:sp>
      <p:sp>
        <p:nvSpPr>
          <p:cNvPr id="17" name="Shape 15"/>
          <p:cNvSpPr/>
          <p:nvPr>
            <p:custDataLst>
              <p:tags r:id="rId15"/>
            </p:custDataLst>
          </p:nvPr>
        </p:nvSpPr>
        <p:spPr>
          <a:xfrm>
            <a:off x="4681728" y="1298448"/>
            <a:ext cx="1060704" cy="1060704"/>
          </a:xfrm>
          <a:prstGeom prst="ellipse">
            <a:avLst/>
          </a:prstGeom>
          <a:solidFill>
            <a:srgbClr val="FFD8B8"/>
          </a:solidFill>
        </p:spPr>
        <p:txBody>
          <a:bodyPr/>
          <a:p/>
        </p:txBody>
      </p:sp>
      <p:sp>
        <p:nvSpPr>
          <p:cNvPr id="18" name="Shape 16"/>
          <p:cNvSpPr/>
          <p:nvPr>
            <p:custDataLst>
              <p:tags r:id="rId16"/>
            </p:custDataLst>
          </p:nvPr>
        </p:nvSpPr>
        <p:spPr>
          <a:xfrm>
            <a:off x="5026457" y="1733337"/>
            <a:ext cx="95463" cy="95463"/>
          </a:xfrm>
          <a:prstGeom prst="ellipse">
            <a:avLst/>
          </a:prstGeom>
          <a:solidFill>
            <a:srgbClr val="2C1810"/>
          </a:solidFill>
        </p:spPr>
        <p:txBody>
          <a:bodyPr/>
          <a:p/>
        </p:txBody>
      </p:sp>
      <p:sp>
        <p:nvSpPr>
          <p:cNvPr id="19" name="Shape 17"/>
          <p:cNvSpPr/>
          <p:nvPr>
            <p:custDataLst>
              <p:tags r:id="rId17"/>
            </p:custDataLst>
          </p:nvPr>
        </p:nvSpPr>
        <p:spPr>
          <a:xfrm>
            <a:off x="5302240" y="1733337"/>
            <a:ext cx="95463" cy="95463"/>
          </a:xfrm>
          <a:prstGeom prst="ellipse">
            <a:avLst/>
          </a:prstGeom>
          <a:solidFill>
            <a:srgbClr val="2C1810"/>
          </a:solidFill>
        </p:spPr>
        <p:txBody>
          <a:bodyPr/>
          <a:p/>
        </p:txBody>
      </p:sp>
      <p:sp>
        <p:nvSpPr>
          <p:cNvPr id="20" name="Shape 18"/>
          <p:cNvSpPr/>
          <p:nvPr>
            <p:custDataLst>
              <p:tags r:id="rId18"/>
            </p:custDataLst>
          </p:nvPr>
        </p:nvSpPr>
        <p:spPr>
          <a:xfrm>
            <a:off x="4920386" y="1871228"/>
            <a:ext cx="106070" cy="79553"/>
          </a:xfrm>
          <a:prstGeom prst="ellipse">
            <a:avLst/>
          </a:prstGeom>
          <a:solidFill>
            <a:srgbClr val="FF8A80">
              <a:alpha val="60000"/>
            </a:srgbClr>
          </a:solidFill>
        </p:spPr>
        <p:txBody>
          <a:bodyPr/>
          <a:p/>
        </p:txBody>
      </p:sp>
      <p:sp>
        <p:nvSpPr>
          <p:cNvPr id="21" name="Shape 19"/>
          <p:cNvSpPr/>
          <p:nvPr>
            <p:custDataLst>
              <p:tags r:id="rId19"/>
            </p:custDataLst>
          </p:nvPr>
        </p:nvSpPr>
        <p:spPr>
          <a:xfrm>
            <a:off x="5397703" y="1871228"/>
            <a:ext cx="106070" cy="79553"/>
          </a:xfrm>
          <a:prstGeom prst="ellipse">
            <a:avLst/>
          </a:prstGeom>
          <a:solidFill>
            <a:srgbClr val="FF8A80">
              <a:alpha val="60000"/>
            </a:srgbClr>
          </a:solidFill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20"/>
            </p:custDataLst>
          </p:nvPr>
        </p:nvSpPr>
        <p:spPr>
          <a:xfrm>
            <a:off x="5079492" y="1908353"/>
            <a:ext cx="265176" cy="95463"/>
          </a:xfrm>
          <a:prstGeom prst="ellipse">
            <a:avLst/>
          </a:prstGeom>
          <a:solidFill>
            <a:srgbClr val="E8907A">
              <a:alpha val="70000"/>
            </a:srgbClr>
          </a:solidFill>
        </p:spPr>
        <p:txBody>
          <a:bodyPr/>
          <a:p/>
        </p:txBody>
      </p:sp>
      <p:sp>
        <p:nvSpPr>
          <p:cNvPr id="23" name="Shape 21"/>
          <p:cNvSpPr/>
          <p:nvPr>
            <p:custDataLst>
              <p:tags r:id="rId21"/>
            </p:custDataLst>
          </p:nvPr>
        </p:nvSpPr>
        <p:spPr>
          <a:xfrm>
            <a:off x="5052974" y="1871228"/>
            <a:ext cx="318211" cy="132588"/>
          </a:xfrm>
          <a:prstGeom prst="ellipse">
            <a:avLst/>
          </a:prstGeom>
          <a:solidFill>
            <a:srgbClr val="FFD8B8"/>
          </a:solidFill>
        </p:spPr>
        <p:txBody>
          <a:bodyPr/>
          <a:p/>
        </p:txBody>
      </p:sp>
      <p:sp>
        <p:nvSpPr>
          <p:cNvPr id="24" name="Text 22"/>
          <p:cNvSpPr/>
          <p:nvPr>
            <p:custDataLst>
              <p:tags r:id="rId22"/>
            </p:custDataLst>
          </p:nvPr>
        </p:nvSpPr>
        <p:spPr>
          <a:xfrm>
            <a:off x="5852160" y="146304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吴仁杰</a:t>
            </a:r>
            <a:endParaRPr lang="en-US" sz="1700" dirty="0"/>
          </a:p>
        </p:txBody>
      </p:sp>
      <p:sp>
        <p:nvSpPr>
          <p:cNvPr id="25" name="Text 23"/>
          <p:cNvSpPr/>
          <p:nvPr>
            <p:custDataLst>
              <p:tags r:id="rId23"/>
            </p:custDataLst>
          </p:nvPr>
        </p:nvSpPr>
        <p:spPr>
          <a:xfrm>
            <a:off x="5852160" y="1764792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A4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后端+前端开发</a:t>
            </a:r>
            <a:endParaRPr lang="en-US" sz="1200" dirty="0"/>
          </a:p>
        </p:txBody>
      </p:sp>
      <p:sp>
        <p:nvSpPr>
          <p:cNvPr id="26" name="Text 24"/>
          <p:cNvSpPr/>
          <p:nvPr>
            <p:custDataLst>
              <p:tags r:id="rId24"/>
            </p:custDataLst>
          </p:nvPr>
        </p:nvSpPr>
        <p:spPr>
          <a:xfrm>
            <a:off x="5852160" y="1940560"/>
            <a:ext cx="3017520" cy="7994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zh-CN" alt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前后端开发</a:t>
            </a:r>
            <a:endParaRPr lang="zh-CN" altLang="en-US" sz="1000" dirty="0">
              <a:solidFill>
                <a:srgbClr val="88888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 3 + Element Plus前端实现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15张数据库表结构设计</a:t>
            </a:r>
            <a:endParaRPr lang="en-US" sz="1000" dirty="0"/>
          </a:p>
        </p:txBody>
      </p:sp>
      <p:sp>
        <p:nvSpPr>
          <p:cNvPr id="27" name="Shape 25"/>
          <p:cNvSpPr/>
          <p:nvPr>
            <p:custDataLst>
              <p:tags r:id="rId25"/>
            </p:custDataLst>
          </p:nvPr>
        </p:nvSpPr>
        <p:spPr>
          <a:xfrm>
            <a:off x="731520" y="29260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>
            <p:custDataLst>
              <p:tags r:id="rId26"/>
            </p:custDataLst>
          </p:nvPr>
        </p:nvSpPr>
        <p:spPr>
          <a:xfrm>
            <a:off x="707380" y="3081528"/>
            <a:ext cx="1145560" cy="689458"/>
          </a:xfrm>
          <a:prstGeom prst="ellipse">
            <a:avLst/>
          </a:prstGeom>
          <a:solidFill>
            <a:srgbClr val="4A3020"/>
          </a:solidFill>
        </p:spPr>
        <p:txBody>
          <a:bodyPr/>
          <a:p/>
        </p:txBody>
      </p:sp>
      <p:sp>
        <p:nvSpPr>
          <p:cNvPr id="29" name="Shape 27"/>
          <p:cNvSpPr/>
          <p:nvPr>
            <p:custDataLst>
              <p:tags r:id="rId27"/>
            </p:custDataLst>
          </p:nvPr>
        </p:nvSpPr>
        <p:spPr>
          <a:xfrm>
            <a:off x="749808" y="3081528"/>
            <a:ext cx="1060704" cy="1060704"/>
          </a:xfrm>
          <a:prstGeom prst="ellipse">
            <a:avLst/>
          </a:prstGeom>
          <a:solidFill>
            <a:srgbClr val="FFE8D0"/>
          </a:solidFill>
        </p:spPr>
        <p:txBody>
          <a:bodyPr/>
          <a:p/>
        </p:txBody>
      </p:sp>
      <p:sp>
        <p:nvSpPr>
          <p:cNvPr id="30" name="Shape 28"/>
          <p:cNvSpPr/>
          <p:nvPr>
            <p:custDataLst>
              <p:tags r:id="rId28"/>
            </p:custDataLst>
          </p:nvPr>
        </p:nvSpPr>
        <p:spPr>
          <a:xfrm>
            <a:off x="1094537" y="3516417"/>
            <a:ext cx="95463" cy="95463"/>
          </a:xfrm>
          <a:prstGeom prst="ellipse">
            <a:avLst/>
          </a:prstGeom>
          <a:solidFill>
            <a:srgbClr val="2C1810"/>
          </a:solidFill>
        </p:spPr>
        <p:txBody>
          <a:bodyPr/>
          <a:p/>
        </p:txBody>
      </p:sp>
      <p:sp>
        <p:nvSpPr>
          <p:cNvPr id="31" name="Shape 29"/>
          <p:cNvSpPr/>
          <p:nvPr>
            <p:custDataLst>
              <p:tags r:id="rId29"/>
            </p:custDataLst>
          </p:nvPr>
        </p:nvSpPr>
        <p:spPr>
          <a:xfrm>
            <a:off x="1370320" y="3516417"/>
            <a:ext cx="95463" cy="95463"/>
          </a:xfrm>
          <a:prstGeom prst="ellipse">
            <a:avLst/>
          </a:prstGeom>
          <a:solidFill>
            <a:srgbClr val="2C1810"/>
          </a:solidFill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30"/>
            </p:custDataLst>
          </p:nvPr>
        </p:nvSpPr>
        <p:spPr>
          <a:xfrm>
            <a:off x="988466" y="3654308"/>
            <a:ext cx="106070" cy="79553"/>
          </a:xfrm>
          <a:prstGeom prst="ellipse">
            <a:avLst/>
          </a:prstGeom>
          <a:solidFill>
            <a:srgbClr val="FF8A80">
              <a:alpha val="60000"/>
            </a:srgbClr>
          </a:solidFill>
        </p:spPr>
        <p:txBody>
          <a:bodyPr/>
          <a:p/>
        </p:txBody>
      </p:sp>
      <p:sp>
        <p:nvSpPr>
          <p:cNvPr id="33" name="Shape 31"/>
          <p:cNvSpPr/>
          <p:nvPr>
            <p:custDataLst>
              <p:tags r:id="rId31"/>
            </p:custDataLst>
          </p:nvPr>
        </p:nvSpPr>
        <p:spPr>
          <a:xfrm>
            <a:off x="1465783" y="3654308"/>
            <a:ext cx="106070" cy="79553"/>
          </a:xfrm>
          <a:prstGeom prst="ellipse">
            <a:avLst/>
          </a:prstGeom>
          <a:solidFill>
            <a:srgbClr val="FF8A80">
              <a:alpha val="60000"/>
            </a:srgbClr>
          </a:solidFill>
        </p:spPr>
        <p:txBody>
          <a:bodyPr/>
          <a:p/>
        </p:txBody>
      </p:sp>
      <p:sp>
        <p:nvSpPr>
          <p:cNvPr id="34" name="Shape 32"/>
          <p:cNvSpPr/>
          <p:nvPr>
            <p:custDataLst>
              <p:tags r:id="rId32"/>
            </p:custDataLst>
          </p:nvPr>
        </p:nvSpPr>
        <p:spPr>
          <a:xfrm>
            <a:off x="1147572" y="3691433"/>
            <a:ext cx="265176" cy="95463"/>
          </a:xfrm>
          <a:prstGeom prst="ellipse">
            <a:avLst/>
          </a:prstGeom>
          <a:solidFill>
            <a:srgbClr val="E8907A">
              <a:alpha val="70000"/>
            </a:srgbClr>
          </a:solidFill>
        </p:spPr>
        <p:txBody>
          <a:bodyPr/>
          <a:p/>
        </p:txBody>
      </p:sp>
      <p:sp>
        <p:nvSpPr>
          <p:cNvPr id="35" name="Shape 33"/>
          <p:cNvSpPr/>
          <p:nvPr>
            <p:custDataLst>
              <p:tags r:id="rId33"/>
            </p:custDataLst>
          </p:nvPr>
        </p:nvSpPr>
        <p:spPr>
          <a:xfrm>
            <a:off x="1121054" y="3654308"/>
            <a:ext cx="318211" cy="132588"/>
          </a:xfrm>
          <a:prstGeom prst="ellipse">
            <a:avLst/>
          </a:prstGeom>
          <a:solidFill>
            <a:srgbClr val="FFE8D0"/>
          </a:solidFill>
        </p:spPr>
        <p:txBody>
          <a:bodyPr/>
          <a:p/>
        </p:txBody>
      </p:sp>
      <p:sp>
        <p:nvSpPr>
          <p:cNvPr id="36" name="Text 34"/>
          <p:cNvSpPr/>
          <p:nvPr>
            <p:custDataLst>
              <p:tags r:id="rId34"/>
            </p:custDataLst>
          </p:nvPr>
        </p:nvSpPr>
        <p:spPr>
          <a:xfrm>
            <a:off x="1920240" y="324612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黄煜乾</a:t>
            </a:r>
            <a:endParaRPr lang="en-US" sz="1700" dirty="0"/>
          </a:p>
        </p:txBody>
      </p:sp>
      <p:sp>
        <p:nvSpPr>
          <p:cNvPr id="37" name="Text 35"/>
          <p:cNvSpPr/>
          <p:nvPr>
            <p:custDataLst>
              <p:tags r:id="rId35"/>
            </p:custDataLst>
          </p:nvPr>
        </p:nvSpPr>
        <p:spPr>
          <a:xfrm>
            <a:off x="1920240" y="3547872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05F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文档+PPT</a:t>
            </a:r>
            <a:endParaRPr lang="en-US" sz="1200" dirty="0"/>
          </a:p>
        </p:txBody>
      </p:sp>
      <p:sp>
        <p:nvSpPr>
          <p:cNvPr id="38" name="Text 36"/>
          <p:cNvSpPr/>
          <p:nvPr>
            <p:custDataLst>
              <p:tags r:id="rId36"/>
            </p:custDataLst>
          </p:nvPr>
        </p:nvSpPr>
        <p:spPr>
          <a:xfrm>
            <a:off x="1933575" y="3845560"/>
            <a:ext cx="3017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SRS需求规格说明编写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详细设计文档与ER图绘制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答辩PPT制作与视觉设计</a:t>
            </a:r>
            <a:endParaRPr lang="en-US" sz="1000" dirty="0"/>
          </a:p>
        </p:txBody>
      </p:sp>
      <p:sp>
        <p:nvSpPr>
          <p:cNvPr id="39" name="Shape 37"/>
          <p:cNvSpPr/>
          <p:nvPr>
            <p:custDataLst>
              <p:tags r:id="rId37"/>
            </p:custDataLst>
          </p:nvPr>
        </p:nvSpPr>
        <p:spPr>
          <a:xfrm>
            <a:off x="4663440" y="29260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0" name="Shape 38"/>
          <p:cNvSpPr/>
          <p:nvPr>
            <p:custDataLst>
              <p:tags r:id="rId38"/>
            </p:custDataLst>
          </p:nvPr>
        </p:nvSpPr>
        <p:spPr>
          <a:xfrm>
            <a:off x="4639300" y="3081528"/>
            <a:ext cx="1145560" cy="689458"/>
          </a:xfrm>
          <a:prstGeom prst="ellipse">
            <a:avLst/>
          </a:prstGeom>
          <a:solidFill>
            <a:srgbClr val="2C1810"/>
          </a:solidFill>
        </p:spPr>
        <p:txBody>
          <a:bodyPr/>
          <a:p/>
        </p:txBody>
      </p:sp>
      <p:sp>
        <p:nvSpPr>
          <p:cNvPr id="41" name="Shape 39"/>
          <p:cNvSpPr/>
          <p:nvPr>
            <p:custDataLst>
              <p:tags r:id="rId39"/>
            </p:custDataLst>
          </p:nvPr>
        </p:nvSpPr>
        <p:spPr>
          <a:xfrm>
            <a:off x="4681728" y="3081528"/>
            <a:ext cx="1060704" cy="1060704"/>
          </a:xfrm>
          <a:prstGeom prst="ellipse">
            <a:avLst/>
          </a:prstGeom>
          <a:solidFill>
            <a:srgbClr val="FFDCC0"/>
          </a:solidFill>
        </p:spPr>
        <p:txBody>
          <a:bodyPr/>
          <a:p/>
        </p:txBody>
      </p:sp>
      <p:sp>
        <p:nvSpPr>
          <p:cNvPr id="42" name="Shape 40"/>
          <p:cNvSpPr/>
          <p:nvPr>
            <p:custDataLst>
              <p:tags r:id="rId40"/>
            </p:custDataLst>
          </p:nvPr>
        </p:nvSpPr>
        <p:spPr>
          <a:xfrm>
            <a:off x="5026457" y="3516417"/>
            <a:ext cx="95463" cy="95463"/>
          </a:xfrm>
          <a:prstGeom prst="ellipse">
            <a:avLst/>
          </a:prstGeom>
          <a:solidFill>
            <a:srgbClr val="2C1810"/>
          </a:solidFill>
        </p:spPr>
        <p:txBody>
          <a:bodyPr/>
          <a:p/>
        </p:txBody>
      </p:sp>
      <p:sp>
        <p:nvSpPr>
          <p:cNvPr id="43" name="Shape 41"/>
          <p:cNvSpPr/>
          <p:nvPr>
            <p:custDataLst>
              <p:tags r:id="rId41"/>
            </p:custDataLst>
          </p:nvPr>
        </p:nvSpPr>
        <p:spPr>
          <a:xfrm>
            <a:off x="5302240" y="3516417"/>
            <a:ext cx="95463" cy="95463"/>
          </a:xfrm>
          <a:prstGeom prst="ellipse">
            <a:avLst/>
          </a:prstGeom>
          <a:solidFill>
            <a:srgbClr val="2C1810"/>
          </a:solidFill>
        </p:spPr>
        <p:txBody>
          <a:bodyPr/>
          <a:p/>
        </p:txBody>
      </p:sp>
      <p:sp>
        <p:nvSpPr>
          <p:cNvPr id="44" name="Shape 42"/>
          <p:cNvSpPr/>
          <p:nvPr>
            <p:custDataLst>
              <p:tags r:id="rId42"/>
            </p:custDataLst>
          </p:nvPr>
        </p:nvSpPr>
        <p:spPr>
          <a:xfrm>
            <a:off x="4920386" y="3654308"/>
            <a:ext cx="106070" cy="79553"/>
          </a:xfrm>
          <a:prstGeom prst="ellipse">
            <a:avLst/>
          </a:prstGeom>
          <a:solidFill>
            <a:srgbClr val="FF8A80">
              <a:alpha val="60000"/>
            </a:srgbClr>
          </a:solidFill>
        </p:spPr>
        <p:txBody>
          <a:bodyPr/>
          <a:p/>
        </p:txBody>
      </p:sp>
      <p:sp>
        <p:nvSpPr>
          <p:cNvPr id="45" name="Shape 43"/>
          <p:cNvSpPr/>
          <p:nvPr>
            <p:custDataLst>
              <p:tags r:id="rId43"/>
            </p:custDataLst>
          </p:nvPr>
        </p:nvSpPr>
        <p:spPr>
          <a:xfrm>
            <a:off x="5397703" y="3654308"/>
            <a:ext cx="106070" cy="79553"/>
          </a:xfrm>
          <a:prstGeom prst="ellipse">
            <a:avLst/>
          </a:prstGeom>
          <a:solidFill>
            <a:srgbClr val="FF8A80">
              <a:alpha val="60000"/>
            </a:srgbClr>
          </a:solidFill>
        </p:spPr>
        <p:txBody>
          <a:bodyPr/>
          <a:p/>
        </p:txBody>
      </p:sp>
      <p:sp>
        <p:nvSpPr>
          <p:cNvPr id="46" name="Shape 44"/>
          <p:cNvSpPr/>
          <p:nvPr>
            <p:custDataLst>
              <p:tags r:id="rId44"/>
            </p:custDataLst>
          </p:nvPr>
        </p:nvSpPr>
        <p:spPr>
          <a:xfrm>
            <a:off x="5079492" y="3691433"/>
            <a:ext cx="265176" cy="95463"/>
          </a:xfrm>
          <a:prstGeom prst="ellipse">
            <a:avLst/>
          </a:prstGeom>
          <a:solidFill>
            <a:srgbClr val="E8907A">
              <a:alpha val="70000"/>
            </a:srgbClr>
          </a:solidFill>
        </p:spPr>
        <p:txBody>
          <a:bodyPr/>
          <a:p/>
        </p:txBody>
      </p:sp>
      <p:sp>
        <p:nvSpPr>
          <p:cNvPr id="47" name="Shape 45"/>
          <p:cNvSpPr/>
          <p:nvPr>
            <p:custDataLst>
              <p:tags r:id="rId45"/>
            </p:custDataLst>
          </p:nvPr>
        </p:nvSpPr>
        <p:spPr>
          <a:xfrm>
            <a:off x="5052974" y="3654308"/>
            <a:ext cx="318211" cy="132588"/>
          </a:xfrm>
          <a:prstGeom prst="ellipse">
            <a:avLst/>
          </a:prstGeom>
          <a:solidFill>
            <a:srgbClr val="FFDCC0"/>
          </a:solidFill>
        </p:spPr>
        <p:txBody>
          <a:bodyPr/>
          <a:p/>
        </p:txBody>
      </p:sp>
      <p:sp>
        <p:nvSpPr>
          <p:cNvPr id="48" name="Text 46"/>
          <p:cNvSpPr/>
          <p:nvPr>
            <p:custDataLst>
              <p:tags r:id="rId46"/>
            </p:custDataLst>
          </p:nvPr>
        </p:nvSpPr>
        <p:spPr>
          <a:xfrm>
            <a:off x="5852160" y="3246120"/>
            <a:ext cx="2103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胡子风</a:t>
            </a:r>
            <a:endParaRPr lang="en-US" sz="1700" dirty="0"/>
          </a:p>
        </p:txBody>
      </p:sp>
      <p:sp>
        <p:nvSpPr>
          <p:cNvPr id="49" name="Text 47"/>
          <p:cNvSpPr/>
          <p:nvPr>
            <p:custDataLst>
              <p:tags r:id="rId47"/>
            </p:custDataLst>
          </p:nvPr>
        </p:nvSpPr>
        <p:spPr>
          <a:xfrm>
            <a:off x="5852160" y="3547872"/>
            <a:ext cx="21031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7A4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</a:t>
            </a:r>
            <a:endParaRPr lang="en-US" sz="1200" dirty="0"/>
          </a:p>
        </p:txBody>
      </p:sp>
      <p:sp>
        <p:nvSpPr>
          <p:cNvPr id="50" name="Text 48"/>
          <p:cNvSpPr/>
          <p:nvPr>
            <p:custDataLst>
              <p:tags r:id="rId48"/>
            </p:custDataLst>
          </p:nvPr>
        </p:nvSpPr>
        <p:spPr>
          <a:xfrm>
            <a:off x="5913755" y="3845560"/>
            <a:ext cx="3017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功能测试用例编写与执行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Bug发现、跟踪与修复确认</a:t>
            </a:r>
            <a:endParaRPr lang="en-US" sz="10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用户体验测试与改进建议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31520" y="449580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4人协作团队  ·  前后端分离开发  ·  明确分工、高效协作、共同推进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2940" y="941832"/>
            <a:ext cx="2423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72768" y="1143000"/>
            <a:ext cx="603504" cy="603504"/>
          </a:xfrm>
          <a:prstGeom prst="ellipse">
            <a:avLst/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627083" y="1197315"/>
            <a:ext cx="494873" cy="494873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572768" y="1143000"/>
            <a:ext cx="60350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29D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广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4380" y="181051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技能广场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0100" y="2084832"/>
            <a:ext cx="2148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分类浏览、关键词搜索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支持技能发布、编辑与下架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06140" y="941832"/>
            <a:ext cx="2423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15968" y="1143000"/>
            <a:ext cx="603504" cy="603504"/>
          </a:xfrm>
          <a:prstGeom prst="ellipse">
            <a:avLst/>
          </a:prstGeom>
          <a:solidFill>
            <a:srgbClr val="57A4B9"/>
          </a:solidFill>
          <a:ln w="12700">
            <a:solidFill>
              <a:srgbClr val="57A4B9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370283" y="1197315"/>
            <a:ext cx="494873" cy="494873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15968" y="1143000"/>
            <a:ext cx="60350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7A4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赏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97580" y="181051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需求悬赏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43300" y="2084832"/>
            <a:ext cx="2148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发布需求并设置时间币悬赏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多人申请，发布者挑选并验收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49340" y="941832"/>
            <a:ext cx="2423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059168" y="1143000"/>
            <a:ext cx="603504" cy="603504"/>
          </a:xfrm>
          <a:prstGeom prst="ellipse">
            <a:avLst/>
          </a:prstGeom>
          <a:solidFill>
            <a:srgbClr val="F05F42"/>
          </a:solidFill>
          <a:ln w="12700">
            <a:solidFill>
              <a:srgbClr val="F05F4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113483" y="1197315"/>
            <a:ext cx="494873" cy="494873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059168" y="1143000"/>
            <a:ext cx="60350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05F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币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40780" y="181051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时间银行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86500" y="2084832"/>
            <a:ext cx="2148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钱包余额实时查询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时间币收入/支出流水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62940" y="2724912"/>
            <a:ext cx="2423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572768" y="2926080"/>
            <a:ext cx="603504" cy="603504"/>
          </a:xfrm>
          <a:prstGeom prst="ellipse">
            <a:avLst/>
          </a:prstGeom>
          <a:solidFill>
            <a:srgbClr val="57A4B9"/>
          </a:solidFill>
          <a:ln w="12700">
            <a:solidFill>
              <a:srgbClr val="57A4B9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627083" y="2980395"/>
            <a:ext cx="494873" cy="494873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572768" y="2926080"/>
            <a:ext cx="60350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57A4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4380" y="359359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订单交易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0100" y="3867912"/>
            <a:ext cx="2148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下单→待确认→进行中→验收→完成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5态状态机严格流转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06140" y="2724912"/>
            <a:ext cx="2423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315968" y="2926080"/>
            <a:ext cx="603504" cy="603504"/>
          </a:xfrm>
          <a:prstGeom prst="ellipse">
            <a:avLst/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370283" y="2980395"/>
            <a:ext cx="494873" cy="494873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315968" y="2926080"/>
            <a:ext cx="60350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29D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497580" y="359359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双盲评价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43300" y="3867785"/>
            <a:ext cx="2280920" cy="3841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交易后双方互评，写完可见对方评价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四维信誉雷达图：按时/沟通/专业/态度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49340" y="2724912"/>
            <a:ext cx="2423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059168" y="2926080"/>
            <a:ext cx="603504" cy="603504"/>
          </a:xfrm>
          <a:prstGeom prst="ellipse">
            <a:avLst/>
          </a:prstGeom>
          <a:solidFill>
            <a:srgbClr val="F05F42"/>
          </a:solidFill>
          <a:ln w="12700">
            <a:solidFill>
              <a:srgbClr val="F05F42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113483" y="2980395"/>
            <a:ext cx="494873" cy="494873"/>
          </a:xfrm>
          <a:prstGeom prst="ellipse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059168" y="2926080"/>
            <a:ext cx="603504" cy="60350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05F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240780" y="3593592"/>
            <a:ext cx="22402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管理后台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86500" y="3867912"/>
            <a:ext cx="21488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用户管理（启用/禁用）</a:t>
            </a:r>
            <a:endParaRPr lang="en-US" sz="9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技能审核（通过/拒绝）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功能展示 — 用户端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4" name="Image 0" descr="D:\Agent工作区\Claude Code工作区\综合实训项目\screenshots\user-hom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0080" y="1097280"/>
            <a:ext cx="242316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097280"/>
            <a:ext cx="242316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40080" y="2697480"/>
            <a:ext cx="2423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技能广场首页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37560" y="10515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8" name="Image 1" descr="D:\Agent工作区\Claude Code工作区\综合实训项目\screenshots\skill-detai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383280" y="1097280"/>
            <a:ext cx="2423160" cy="15544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83280" y="1097280"/>
            <a:ext cx="242316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3383280" y="2697480"/>
            <a:ext cx="2423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技能详情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80760" y="105156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2" name="Image 2" descr="D:\Agent工作区\Claude Code工作区\综合实训项目\screenshots\message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26480" y="1097280"/>
            <a:ext cx="2423160" cy="15544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126480" y="1097280"/>
            <a:ext cx="242316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6126480" y="2697480"/>
            <a:ext cx="2423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私信聊天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94360" y="301752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6" name="Image 3" descr="D:\Agent工作区\Claude Code工作区\综合实训项目\screenshots\wallet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0080" y="3063240"/>
            <a:ext cx="2423160" cy="15544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0080" y="3063240"/>
            <a:ext cx="242316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  <p:txBody>
          <a:bodyPr/>
          <a:p/>
        </p:txBody>
      </p:sp>
      <p:sp>
        <p:nvSpPr>
          <p:cNvPr id="18" name="Text 12"/>
          <p:cNvSpPr/>
          <p:nvPr/>
        </p:nvSpPr>
        <p:spPr>
          <a:xfrm>
            <a:off x="640080" y="4663440"/>
            <a:ext cx="2423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时间钱包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337560" y="301752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0" name="Image 4" descr="D:\Agent工作区\Claude Code工作区\综合实训项目\screenshots\orders-buyer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383280" y="3063240"/>
            <a:ext cx="2423160" cy="155448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3383280" y="3063240"/>
            <a:ext cx="242316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  <p:txBody>
          <a:bodyPr/>
          <a:p/>
        </p:txBody>
      </p:sp>
      <p:sp>
        <p:nvSpPr>
          <p:cNvPr id="22" name="Text 15"/>
          <p:cNvSpPr/>
          <p:nvPr/>
        </p:nvSpPr>
        <p:spPr>
          <a:xfrm>
            <a:off x="3383280" y="4663440"/>
            <a:ext cx="2423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订单详情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080760" y="301752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4" name="Image 5" descr="D:\Agent工作区\Claude Code工作区\综合实训项目\screenshots\profile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126480" y="3063240"/>
            <a:ext cx="2423160" cy="155448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126480" y="3063240"/>
            <a:ext cx="242316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  <p:txBody>
          <a:bodyPr/>
          <a:p/>
        </p:txBody>
      </p:sp>
      <p:sp>
        <p:nvSpPr>
          <p:cNvPr id="26" name="Text 18"/>
          <p:cNvSpPr/>
          <p:nvPr/>
        </p:nvSpPr>
        <p:spPr>
          <a:xfrm>
            <a:off x="6126480" y="4663440"/>
            <a:ext cx="24231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个人中心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功能展示 — 管理后台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4" name="Image 0" descr="D:\Agent工作区\Claude Code工作区\综合实训项目\screenshots\admin-users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0080" y="1097280"/>
            <a:ext cx="3657600" cy="1508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097280"/>
            <a:ext cx="365760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40080" y="263347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用户管理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862072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启用/禁用用户账号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846320" y="105156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9" name="Image 1" descr="D:\Agent工作区\Claude Code工作区\综合实训项目\screenshots\admin-skill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92040" y="1097280"/>
            <a:ext cx="3657600" cy="15087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892040" y="1097280"/>
            <a:ext cx="365760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4892040" y="263347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技能审核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92040" y="2862072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通过/拒绝技能发布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94360" y="306324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4" name="Image 2" descr="D:\Agent工作区\Claude Code工作区\综合实训项目\screenshots\admin-appeal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0080" y="3108960"/>
            <a:ext cx="3657600" cy="150876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40080" y="3108960"/>
            <a:ext cx="365760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640080" y="46451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申诉处理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" y="4873752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处理用户交易申诉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846320" y="3063240"/>
            <a:ext cx="37490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9" name="Image 3" descr="D:\Agent工作区\Claude Code工作区\综合实训项目\screenshots\admin-announcements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92040" y="3108960"/>
            <a:ext cx="3657600" cy="150876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892040" y="3108960"/>
            <a:ext cx="365760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F0E8E0"/>
            </a:solidFill>
            <a:prstDash val="solid"/>
          </a:ln>
        </p:spPr>
        <p:txBody>
          <a:bodyPr/>
          <a:p/>
        </p:txBody>
      </p:sp>
      <p:sp>
        <p:nvSpPr>
          <p:cNvPr id="21" name="Text 15"/>
          <p:cNvSpPr/>
          <p:nvPr/>
        </p:nvSpPr>
        <p:spPr>
          <a:xfrm>
            <a:off x="4892040" y="4645152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公告管理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892040" y="4873752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发布/编辑系统公告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57A4B9">
              <a:alpha val="15000"/>
            </a:srgbClr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828800" y="-457200"/>
            <a:ext cx="1645920" cy="1645920"/>
          </a:xfrm>
          <a:prstGeom prst="ellipse">
            <a:avLst/>
          </a:prstGeom>
          <a:solidFill>
            <a:srgbClr val="57A4B9">
              <a:alpha val="20000"/>
            </a:srgbClr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73152" cy="1463040"/>
          </a:xfrm>
          <a:prstGeom prst="roundRect">
            <a:avLst>
              <a:gd name="adj" fmla="val 62500"/>
            </a:avLst>
          </a:prstGeom>
          <a:solidFill>
            <a:srgbClr val="57A4B9">
              <a:alpha val="80000"/>
            </a:srgbClr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097280"/>
            <a:ext cx="22860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57A4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5029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85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技术架构与核心设计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0" y="210312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TECHNICAL ARCHITECTURE &amp; DESIGN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技术架构总览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29D38">
              <a:alpha val="88000"/>
            </a:srgbClr>
          </a:solidFill>
          <a:ln w="19050">
            <a:solidFill>
              <a:srgbClr val="F29D38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14400" y="109728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 3 + Vite 8 用户前端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32004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E0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localhost:5173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029200" y="109728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29D38">
              <a:alpha val="88000"/>
            </a:srgbClr>
          </a:solidFill>
          <a:ln w="19050">
            <a:solidFill>
              <a:srgbClr val="F29D3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0" y="1097280"/>
            <a:ext cx="3200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 3 管理后台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0" y="1600200"/>
            <a:ext cx="3200400" cy="137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E0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localhost:5174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0" y="178308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205740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57A4B9">
              <a:alpha val="88000"/>
            </a:srgbClr>
          </a:solidFill>
          <a:ln w="19050">
            <a:solidFill>
              <a:srgbClr val="57A4B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86000" y="2057400"/>
            <a:ext cx="4572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skill-gateway  统一入口 :8080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274320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30175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29D38">
              <a:alpha val="25000"/>
            </a:srgbClr>
          </a:solidFill>
          <a:ln w="12700">
            <a:solidFill>
              <a:srgbClr val="F29D3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3017520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30175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29D38">
              <a:alpha val="25000"/>
            </a:srgbClr>
          </a:solidFill>
          <a:ln w="12700">
            <a:solidFill>
              <a:srgbClr val="F29D3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194560" y="3017520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30175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29D38">
              <a:alpha val="25000"/>
            </a:srgbClr>
          </a:solidFill>
          <a:ln w="12700">
            <a:solidFill>
              <a:srgbClr val="F29D3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474720" y="3017520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skill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29D38">
              <a:alpha val="25000"/>
            </a:srgbClr>
          </a:solidFill>
          <a:ln w="12700">
            <a:solidFill>
              <a:srgbClr val="F29D3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754880" y="3017520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order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30175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29D38">
              <a:alpha val="25000"/>
            </a:srgbClr>
          </a:solidFill>
          <a:ln w="12700">
            <a:solidFill>
              <a:srgbClr val="F29D3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035040" y="3017520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wallet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0" y="3017520"/>
            <a:ext cx="1097280" cy="502920"/>
          </a:xfrm>
          <a:prstGeom prst="roundRect">
            <a:avLst>
              <a:gd name="adj" fmla="val 10909"/>
            </a:avLst>
          </a:prstGeom>
          <a:solidFill>
            <a:srgbClr val="F29D38">
              <a:alpha val="25000"/>
            </a:srgbClr>
          </a:solidFill>
          <a:ln w="12700">
            <a:solidFill>
              <a:srgbClr val="F29D3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315200" y="3017520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0" y="3566160"/>
            <a:ext cx="9144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</a:rPr>
              <a:t>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286000" y="384048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285460">
              <a:alpha val="88000"/>
            </a:srgbClr>
          </a:solidFill>
          <a:ln w="19050">
            <a:solidFill>
              <a:srgbClr val="28546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286000" y="384048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8.0  (15张表)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6177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CFAF8"/>
          </a:solidFill>
          <a:ln w="6350">
            <a:solidFill>
              <a:srgbClr val="F0E8E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31520" y="4617720"/>
            <a:ext cx="1234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Spring Boot 3.2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48840" y="46177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CFAF8"/>
          </a:solidFill>
          <a:ln w="6350">
            <a:solidFill>
              <a:srgbClr val="F0E8E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148840" y="4617720"/>
            <a:ext cx="1234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MyBatis-Plus 3.5.5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66160" y="46177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CFAF8"/>
          </a:solidFill>
          <a:ln w="6350">
            <a:solidFill>
              <a:srgbClr val="F0E8E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566160" y="4617720"/>
            <a:ext cx="1234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JWT认证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83480" y="46177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CFAF8"/>
          </a:solidFill>
          <a:ln w="6350">
            <a:solidFill>
              <a:srgbClr val="F0E8E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983480" y="4617720"/>
            <a:ext cx="1234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Element Plus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46177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CFAF8"/>
          </a:solidFill>
          <a:ln w="6350">
            <a:solidFill>
              <a:srgbClr val="F0E8E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00800" y="4617720"/>
            <a:ext cx="1234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Pinia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818120" y="4617720"/>
            <a:ext cx="1234440" cy="292608"/>
          </a:xfrm>
          <a:prstGeom prst="roundRect">
            <a:avLst>
              <a:gd name="adj" fmla="val 25000"/>
            </a:avLst>
          </a:prstGeom>
          <a:solidFill>
            <a:srgbClr val="FCFAF8"/>
          </a:solidFill>
          <a:ln w="6350">
            <a:solidFill>
              <a:srgbClr val="F0E8E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818120" y="4617720"/>
            <a:ext cx="12344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Axios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关键技术亮点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1188720"/>
            <a:ext cx="64008" cy="1600200"/>
          </a:xfrm>
          <a:prstGeom prst="rect">
            <a:avLst/>
          </a:prstGeom>
          <a:solidFill>
            <a:srgbClr val="F29D38"/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13258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JWT认证体系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737360"/>
            <a:ext cx="3108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自定义@RequireAuth注解 + 全局拦截器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登录态管理，角色权限控制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Token自动续期与失效处理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663440" y="1188720"/>
            <a:ext cx="64008" cy="1600200"/>
          </a:xfrm>
          <a:prstGeom prst="rect">
            <a:avLst/>
          </a:prstGeom>
          <a:solidFill>
            <a:srgbClr val="57A4B9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892040" y="13258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订单状态机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3108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待确认→进行中→待确认完成→已完成/已取消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时间币自动冻结/解冻/转账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双方确认机制保障交易安全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31520" y="3017520"/>
            <a:ext cx="64008" cy="1600200"/>
          </a:xfrm>
          <a:prstGeom prst="rect">
            <a:avLst/>
          </a:prstGeom>
          <a:solidFill>
            <a:srgbClr val="F05F42"/>
          </a:solidFill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31546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雪花ID处理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566160"/>
            <a:ext cx="3108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Snowflake算法生成分布式唯一ID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Jackson Long→String序列化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彻底解决前端JavaScript精度丢失问题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01752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64008" cy="1600200"/>
          </a:xfrm>
          <a:prstGeom prst="rect">
            <a:avLst/>
          </a:prstGeom>
          <a:solidFill>
            <a:srgbClr val="57A4B9"/>
          </a:solidFill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92040" y="3154680"/>
            <a:ext cx="31089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双盲评价机制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3566160"/>
            <a:ext cx="31089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双方互评后立即可见评价内容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7天超时自动解盲</a:t>
            </a:r>
            <a:endParaRPr lang="en-US" sz="11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四维信誉雷达图(按时/沟通/专业/态度)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数据库设计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5720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05840" y="132588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user (用户)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132588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skill (技能)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728216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skill_category (分类)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728216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bounty (悬赏)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130552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bounty_application (申请)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130552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skill_order (订单)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532888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time_transaction (流水)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532888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review (评价)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935224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appeal (申诉)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935224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announcement (公告)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333756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private_message (私信)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3337560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chat_message (聊天)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739896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user_follow (关注)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739896"/>
            <a:ext cx="2103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▸  notification (通知)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118872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7A4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技术要点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69280" y="1691640"/>
            <a:ext cx="29260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669280" y="1691640"/>
            <a:ext cx="54864" cy="548640"/>
          </a:xfrm>
          <a:prstGeom prst="rect">
            <a:avLst/>
          </a:prstGeom>
          <a:solidFill>
            <a:srgbClr val="57A4B9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897880" y="173736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雪花ID主键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97880" y="196596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分布式唯一，趋势递增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2377440"/>
            <a:ext cx="29260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669280" y="2377440"/>
            <a:ext cx="54864" cy="548640"/>
          </a:xfrm>
          <a:prstGeom prst="rect">
            <a:avLst/>
          </a:prstGeom>
          <a:solidFill>
            <a:srgbClr val="57A4B9"/>
          </a:solidFill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897880" y="242316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BCrypt加密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97880" y="265176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密码安全存储，防彩虹表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3063240"/>
            <a:ext cx="29260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669280" y="3063240"/>
            <a:ext cx="54864" cy="548640"/>
          </a:xfrm>
          <a:prstGeom prst="rect">
            <a:avLst/>
          </a:prstGeom>
          <a:solidFill>
            <a:srgbClr val="57A4B9"/>
          </a:solidFill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897880" y="310896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范式设计 (3NF)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97880" y="333756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消除数据冗余，保证一致性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0" y="3749040"/>
            <a:ext cx="292608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669280" y="3749040"/>
            <a:ext cx="54864" cy="548640"/>
          </a:xfrm>
          <a:prstGeom prst="rect">
            <a:avLst/>
          </a:prstGeom>
          <a:solidFill>
            <a:srgbClr val="57A4B9"/>
          </a:solidFill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897880" y="379476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BaseEntity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97880" y="402336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公共字段：id/createTime/updateTime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BBB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共15张表，完整覆盖业务需求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F05F42">
              <a:alpha val="15000"/>
            </a:srgbClr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828800" y="-274320"/>
            <a:ext cx="1645920" cy="1645920"/>
          </a:xfrm>
          <a:prstGeom prst="ellipse">
            <a:avLst/>
          </a:prstGeom>
          <a:solidFill>
            <a:srgbClr val="F05F42">
              <a:alpha val="20000"/>
            </a:srgbClr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73152" cy="1463040"/>
          </a:xfrm>
          <a:prstGeom prst="roundRect">
            <a:avLst>
              <a:gd name="adj" fmla="val 62500"/>
            </a:avLst>
          </a:prstGeom>
          <a:solidFill>
            <a:srgbClr val="F05F42">
              <a:alpha val="80000"/>
            </a:srgbClr>
          </a:solidFill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097280"/>
            <a:ext cx="22860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05F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5029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854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项目总结与展望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0" y="210312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88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SUMMARY &amp; OUTLOOK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项目成果与AI辅助开发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05840" y="132588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29D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项目成果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87452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9D38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7个Maven模块全部编译通过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9D38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3317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15张数据库表完整设计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78892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9D38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7889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13+前端页面完整实现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24612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9D38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2461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30+ API接口全覆盖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703320"/>
            <a:ext cx="274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9D38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703320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8项课程交付物全部完成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120640" y="132588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57A4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AI辅助开发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20640" y="1883664"/>
            <a:ext cx="164592" cy="164592"/>
          </a:xfrm>
          <a:prstGeom prst="ellipse">
            <a:avLst/>
          </a:prstGeom>
          <a:solidFill>
            <a:srgbClr val="57A4B9"/>
          </a:solidFill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40680" y="1828800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全流程AI辅助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2057400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使用Claude Code从零搭建项目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20640" y="2450592"/>
            <a:ext cx="164592" cy="164592"/>
          </a:xfrm>
          <a:prstGeom prst="ellipse">
            <a:avLst/>
          </a:prstGeom>
          <a:solidFill>
            <a:srgbClr val="57A4B9"/>
          </a:solidFill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40680" y="2395728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多Agent协作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40680" y="2624328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开发/测试/文档Agent并行工作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20640" y="3017520"/>
            <a:ext cx="164592" cy="164592"/>
          </a:xfrm>
          <a:prstGeom prst="ellipse">
            <a:avLst/>
          </a:prstGeom>
          <a:solidFill>
            <a:srgbClr val="57A4B9"/>
          </a:solidFill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440680" y="2962656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排坑驱动迭代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0680" y="3191256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30+排坑记录，持续优化代码质量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20640" y="3584448"/>
            <a:ext cx="164592" cy="164592"/>
          </a:xfrm>
          <a:prstGeom prst="ellipse">
            <a:avLst/>
          </a:prstGeom>
          <a:solidFill>
            <a:srgbClr val="57A4B9"/>
          </a:solidFill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40680" y="3529584"/>
            <a:ext cx="2743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融入课程要求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3758184"/>
            <a:ext cx="274320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AI辅助开发满足课程设计规范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1520" y="4480560"/>
            <a:ext cx="7680960" cy="411480"/>
          </a:xfrm>
          <a:prstGeom prst="roundRect">
            <a:avLst>
              <a:gd name="adj" fmla="val 22222"/>
            </a:avLst>
          </a:prstGeom>
          <a:solidFill>
            <a:srgbClr val="D4EDF0"/>
          </a:solidFill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31520" y="4480560"/>
            <a:ext cx="7680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7A4B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课程要求全部满足：分层架构  |  前后端分离  |  15张表  |  JWT认证  |  Git版本管理  |  AI融入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57A4B9">
              <a:alpha val="15000"/>
            </a:srgbClr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74320" y="2286000"/>
            <a:ext cx="1828800" cy="1828800"/>
          </a:xfrm>
          <a:prstGeom prst="ellipse">
            <a:avLst/>
          </a:prstGeom>
          <a:solidFill>
            <a:srgbClr val="F29D38">
              <a:alpha val="12000"/>
            </a:srgbClr>
          </a:solidFill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F29D38">
              <a:alpha val="12000"/>
            </a:srgbClr>
          </a:solidFill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0" y="1828800"/>
            <a:ext cx="2286000" cy="2286000"/>
          </a:xfrm>
          <a:prstGeom prst="ellipse">
            <a:avLst/>
          </a:prstGeom>
          <a:solidFill>
            <a:srgbClr val="57A4B9">
              <a:alpha val="10000"/>
            </a:srgbClr>
          </a:solidFill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0" y="228600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05F4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BBBBBB"/>
          </a:solidFill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0" y="3520440"/>
            <a:ext cx="9144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指导教师：刘德才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0" y="393192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BBB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第10组全体成员：郑朴  ·  吴仁杰  ·  黄煜乾  ·  胡子风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0" y="4389120"/>
            <a:ext cx="9144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Prometheus——技能时间银行  ·  2026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2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3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4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5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6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7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8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9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10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11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12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13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14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15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16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17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18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19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20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21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22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23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24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25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26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27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28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29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30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31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32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33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34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35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36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37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38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39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40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41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42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43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44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45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46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47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ags/tag48.xml><?xml version="1.0" encoding="utf-8"?>
<p:tagLst xmlns:p="http://schemas.openxmlformats.org/presentationml/2006/main">
  <p:tag name="KSO_WM_DIAGRAM_VIRTUALLY_FRAME" val="{&quot;height&quot;:262.8,&quot;left&quot;:55.6992125984252,&quot;top&quot;:90,&quot;width&quot;:647.550787401574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2148</Words>
  <Application>WPS 演示</Application>
  <PresentationFormat>On-screen Show (16:9)</PresentationFormat>
  <Paragraphs>368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Prometheus——技能时间银行</dc:title>
  <dc:creator>第10组</dc:creator>
  <dc:subject>PptxGenJS Presentation</dc:subject>
  <cp:lastModifiedBy>营养快线</cp:lastModifiedBy>
  <cp:revision>5</cp:revision>
  <dcterms:created xsi:type="dcterms:W3CDTF">2026-05-14T14:44:00Z</dcterms:created>
  <dcterms:modified xsi:type="dcterms:W3CDTF">2026-05-15T01:42:09Z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AA7C88E7F8AA47D5AA2039817B255097_12</vt:lpwstr>
  </property>
  <property fmtid="{D5CDD505-2E9C-101B-9397-08002B2CF9AE}" pid="3" name="KSOProductBuildVer">
    <vt:lpwstr>2052-12.1.0.25865</vt:lpwstr>
  </property>
</Properties>
</file>