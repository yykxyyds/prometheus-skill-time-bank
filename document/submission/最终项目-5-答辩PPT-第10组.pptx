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548640"/>
            <a:ext cx="3200400" cy="3200400"/>
          </a:xfrm>
          <a:prstGeom prst="ellipse">
            <a:avLst/>
          </a:prstGeom>
          <a:solidFill>
            <a:srgbClr val="F29D38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1645920"/>
            <a:ext cx="2560320" cy="2560320"/>
          </a:xfrm>
          <a:prstGeom prst="ellipse">
            <a:avLst/>
          </a:prstGeom>
          <a:solidFill>
            <a:srgbClr val="57A4B9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200400"/>
            <a:ext cx="1828800" cy="1828800"/>
          </a:xfrm>
          <a:prstGeom prst="ellipse">
            <a:avLst/>
          </a:prstGeom>
          <a:solidFill>
            <a:srgbClr val="57A4B9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943600" y="-274320"/>
            <a:ext cx="1097280" cy="1097280"/>
          </a:xfrm>
          <a:prstGeom prst="ellipse">
            <a:avLst/>
          </a:prstGeom>
          <a:solidFill>
            <a:srgbClr val="F29D38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229600" y="2743200"/>
            <a:ext cx="274320" cy="731520"/>
          </a:xfrm>
          <a:prstGeom prst="roundRect">
            <a:avLst>
              <a:gd name="adj" fmla="val 16667"/>
            </a:avLst>
          </a:prstGeom>
          <a:solidFill>
            <a:srgbClr val="F05F42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97280"/>
            <a:ext cx="54864" cy="1508760"/>
          </a:xfrm>
          <a:prstGeom prst="rect">
            <a:avLst/>
          </a:prstGeom>
          <a:solidFill>
            <a:srgbClr val="F29D3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097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731520" y="18745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29D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技能时间银行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以时间币为核心的技能互助平台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第10组  |  指导教师：刘德才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海南大学课程设计答辩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1645920" cy="1645920"/>
          </a:xfrm>
          <a:prstGeom prst="ellipse">
            <a:avLst/>
          </a:prstGeom>
          <a:solidFill>
            <a:srgbClr val="F29D3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3474720"/>
            <a:ext cx="1828800" cy="1828800"/>
          </a:xfrm>
          <a:prstGeom prst="ellipse">
            <a:avLst/>
          </a:prstGeom>
          <a:solidFill>
            <a:srgbClr val="57A4B9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3657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6400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45920" y="1600200"/>
            <a:ext cx="685800" cy="685800"/>
          </a:xfrm>
          <a:prstGeom prst="ellipse">
            <a:avLst/>
          </a:prstGeom>
          <a:solidFill>
            <a:srgbClr val="F29D38"/>
          </a:solidFill>
          <a:ln/>
        </p:spPr>
      </p:sp>
      <p:sp>
        <p:nvSpPr>
          <p:cNvPr id="7" name="Text 5"/>
          <p:cNvSpPr/>
          <p:nvPr/>
        </p:nvSpPr>
        <p:spPr>
          <a:xfrm>
            <a:off x="1645920" y="160020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560320" y="157276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项目概述与团队分工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560320" y="19659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项目背景、核心功能、团队成员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371600" y="2651760"/>
            <a:ext cx="6400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645920" y="2788920"/>
            <a:ext cx="685800" cy="685800"/>
          </a:xfrm>
          <a:prstGeom prst="ellipse">
            <a:avLst/>
          </a:prstGeom>
          <a:solidFill>
            <a:srgbClr val="57A4B9"/>
          </a:solidFill>
          <a:ln/>
        </p:spPr>
      </p:sp>
      <p:sp>
        <p:nvSpPr>
          <p:cNvPr id="12" name="Text 10"/>
          <p:cNvSpPr/>
          <p:nvPr/>
        </p:nvSpPr>
        <p:spPr>
          <a:xfrm>
            <a:off x="1645920" y="278892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60320" y="276148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技术架构与核心设计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560320" y="31546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技术栈、架构设计、数据库、关键亮点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71600" y="3840480"/>
            <a:ext cx="64008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645920" y="3977640"/>
            <a:ext cx="685800" cy="685800"/>
          </a:xfrm>
          <a:prstGeom prst="ellipse">
            <a:avLst/>
          </a:prstGeom>
          <a:solidFill>
            <a:srgbClr val="F05F42"/>
          </a:solidFill>
          <a:ln/>
        </p:spPr>
      </p:sp>
      <p:sp>
        <p:nvSpPr>
          <p:cNvPr id="17" name="Text 15"/>
          <p:cNvSpPr/>
          <p:nvPr/>
        </p:nvSpPr>
        <p:spPr>
          <a:xfrm>
            <a:off x="1645920" y="397764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2560320" y="3950208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项目总结与展望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56032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项目成果、AI辅助开发、未来规划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3200400" cy="3200400"/>
          </a:xfrm>
          <a:prstGeom prst="ellipse">
            <a:avLst/>
          </a:prstGeom>
          <a:solidFill>
            <a:srgbClr val="F29D3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-457200"/>
            <a:ext cx="1463040" cy="1463040"/>
          </a:xfrm>
          <a:prstGeom prst="ellipse">
            <a:avLst/>
          </a:prstGeom>
          <a:solidFill>
            <a:srgbClr val="F29D38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73152" cy="1463040"/>
          </a:xfrm>
          <a:prstGeom prst="roundRect">
            <a:avLst>
              <a:gd name="adj" fmla="val 62500"/>
            </a:avLst>
          </a:prstGeom>
          <a:solidFill>
            <a:srgbClr val="57A4B9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29D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3200400" y="13716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854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项目概述与团队分工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20040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OVERVIEW &amp; TEAM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项目背景与意义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05F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5F42"/>
                </a:solidFill>
              </a:rPr>
              <a:t>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技能闲置，无法有效变现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5F42"/>
                </a:solidFill>
              </a:rPr>
              <a:t>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514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传统技能交易，门槛高、流程繁琐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5F42"/>
                </a:solidFill>
              </a:rPr>
              <a:t>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3200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陌生人之间，缺乏信任机制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1887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7A4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我们的方案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937760" y="164592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12080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7A4B9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6692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时间币体系，量化技能价值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12080" y="2514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7A4B9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69280" y="2514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一站式技能共享平台，降低交易成本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7A4B9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9280" y="32004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双盲评价+信誉雷达，建立信任体系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251960"/>
            <a:ext cx="7680960" cy="411480"/>
          </a:xfrm>
          <a:prstGeom prst="roundRect">
            <a:avLst>
              <a:gd name="adj" fmla="val 22222"/>
            </a:avLst>
          </a:prstGeom>
          <a:solidFill>
            <a:srgbClr val="FDE8D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25196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9D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目标：构建一个拒绝金钱交易、回归价值交换的技能互助社区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325880"/>
            <a:ext cx="54864" cy="594360"/>
          </a:xfrm>
          <a:prstGeom prst="rect">
            <a:avLst/>
          </a:prstGeom>
          <a:solidFill>
            <a:srgbClr val="F29D38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郑朴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1691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9D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项目负责人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0574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需求分析、进度管理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后端架构设计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325880"/>
            <a:ext cx="54864" cy="594360"/>
          </a:xfrm>
          <a:prstGeom prst="rect">
            <a:avLst/>
          </a:prstGeom>
          <a:solidFill>
            <a:srgbClr val="57A4B9"/>
          </a:solidFill>
          <a:ln/>
        </p:spPr>
      </p:sp>
      <p:sp>
        <p:nvSpPr>
          <p:cNvPr id="10" name="Text 8"/>
          <p:cNvSpPr/>
          <p:nvPr/>
        </p:nvSpPr>
        <p:spPr>
          <a:xfrm>
            <a:off x="5074920" y="1325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吴仁杰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74920" y="1691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A4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后端+前端开发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20574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Boot多模块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3前端、数据库设计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14400" y="3154680"/>
            <a:ext cx="54864" cy="594360"/>
          </a:xfrm>
          <a:prstGeom prst="rect">
            <a:avLst/>
          </a:prstGeom>
          <a:solidFill>
            <a:srgbClr val="F05F42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154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黄煜乾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5F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文档+PPT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3886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SRS需求规格、详细设计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答辩PPT、部署说明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3154680"/>
            <a:ext cx="54864" cy="594360"/>
          </a:xfrm>
          <a:prstGeom prst="rect">
            <a:avLst/>
          </a:prstGeom>
          <a:solidFill>
            <a:srgbClr val="57A4B9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31546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胡子风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3520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7A4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3886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功能测试、接口测试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Bug跟踪与回归验证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明确分工  /  高效协作  /  共同推进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371600"/>
            <a:ext cx="640080" cy="640080"/>
          </a:xfrm>
          <a:prstGeom prst="ellipse">
            <a:avLst/>
          </a:prstGeom>
          <a:solidFill>
            <a:srgbClr val="F29D38">
              <a:alpha val="8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9D38"/>
                </a:solidFill>
              </a:rPr>
              <a:t>▣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技能广场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分类浏览、关键词搜索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技能发布与下架管理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0" y="1371600"/>
            <a:ext cx="640080" cy="640080"/>
          </a:xfrm>
          <a:prstGeom prst="ellipse">
            <a:avLst/>
          </a:prstGeom>
          <a:solidFill>
            <a:srgbClr val="57A4B9">
              <a:alpha val="8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11480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7A4B9"/>
                </a:solidFill>
              </a:rPr>
              <a:t>◎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20440" y="21488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需求悬赏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0440" y="24688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发布需求、设置悬赏金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申请接单、验收完成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0" y="1371600"/>
            <a:ext cx="640080" cy="640080"/>
          </a:xfrm>
          <a:prstGeom prst="ellipse">
            <a:avLst/>
          </a:prstGeom>
          <a:solidFill>
            <a:srgbClr val="F05F42">
              <a:alpha val="85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05F42"/>
                </a:solidFill>
              </a:rPr>
              <a:t>◇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时间银行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63640" y="24688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钱包余额、时间流水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时间币冻结与转账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10896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371600" y="3291840"/>
            <a:ext cx="640080" cy="640080"/>
          </a:xfrm>
          <a:prstGeom prst="ellipse">
            <a:avLst/>
          </a:prstGeom>
          <a:solidFill>
            <a:srgbClr val="57A4B9">
              <a:alpha val="8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37160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7A4B9"/>
                </a:solidFill>
              </a:rPr>
              <a:t>⇄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77240" y="4069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订单交易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38912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下单→确认→完成全流程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5态状态机自动流转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83280" y="310896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114800" y="3291840"/>
            <a:ext cx="640080" cy="640080"/>
          </a:xfrm>
          <a:prstGeom prst="ellipse">
            <a:avLst/>
          </a:prstGeom>
          <a:solidFill>
            <a:srgbClr val="F29D38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9D38"/>
                </a:solidFill>
              </a:rPr>
              <a:t>⛬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520440" y="4069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双盲评价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520440" y="438912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交易后双方互评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7天自动解盲+信誉雷达图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26480" y="310896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58000" y="3291840"/>
            <a:ext cx="640080" cy="640080"/>
          </a:xfrm>
          <a:prstGeom prst="ellipse">
            <a:avLst/>
          </a:prstGeom>
          <a:solidFill>
            <a:srgbClr val="F05F42">
              <a:alpha val="85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05F42"/>
                </a:solidFill>
              </a:rPr>
              <a:t>⚙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263640" y="406908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管理后台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263640" y="438912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用户管理、技能审核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申诉处理、公告发布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功能展示 — 用户端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4" name="Image 0" descr="D:\Agent工作区\Claude Code工作区\综合实训项目\screenshots\user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97280"/>
            <a:ext cx="242316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097280"/>
            <a:ext cx="242316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技能广场首页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337560" y="105156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1" descr="D:\Agent工作区\Claude Code工作区\综合实训项目\screenshots\skill-detai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83280" y="1097280"/>
            <a:ext cx="2423160" cy="15544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83280" y="1097280"/>
            <a:ext cx="242316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383280" y="2697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技能详情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080760" y="105156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2" name="Image 2" descr="D:\Agent工作区\Claude Code工作区\综合实训项目\screenshots\messag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097280"/>
            <a:ext cx="2423160" cy="155448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126480" y="1097280"/>
            <a:ext cx="242316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6126480" y="2697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私信聊天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94360" y="301752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D:\Agent工作区\Claude Code工作区\综合实训项目\screenshots\walle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3063240"/>
            <a:ext cx="2423160" cy="155448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40080" y="3063240"/>
            <a:ext cx="242316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640080" y="46634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时间钱包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3337560" y="301752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4" descr="D:\Agent工作区\Claude Code工作区\综合实训项目\screenshots\orders-buyer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83280" y="3063240"/>
            <a:ext cx="2423160" cy="155448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3383280" y="3063240"/>
            <a:ext cx="242316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3383280" y="46634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订单详情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6080760" y="301752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24" name="Image 5" descr="D:\Agent工作区\Claude Code工作区\综合实训项目\screenshots\profil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3063240"/>
            <a:ext cx="2423160" cy="155448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063240"/>
            <a:ext cx="242316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6126480" y="46634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功能展示 — 管理后台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4" name="Image 0" descr="D:\Agent工作区\Claude Code工作区\综合实训项目\screenshots\admin-us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97280"/>
            <a:ext cx="3657600" cy="1508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097280"/>
            <a:ext cx="3657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用户管理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8620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启用/禁用用户账号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846320" y="105156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9" name="Image 1" descr="D:\Agent工作区\Claude Code工作区\综合实训项目\screenshots\admin-skil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1097280"/>
            <a:ext cx="3657600" cy="15087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892040" y="1097280"/>
            <a:ext cx="3657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892040" y="26334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技能审核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892040" y="286207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通过/拒绝技能发布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94360" y="306324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D:\Agent工作区\Claude Code工作区\综合实训项目\screenshots\admin-appeal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108960"/>
            <a:ext cx="3657600" cy="150876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40080" y="3108960"/>
            <a:ext cx="3657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40080" y="4645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申诉处理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40080" y="48737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处理用户交易申诉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4846320" y="3063240"/>
            <a:ext cx="374904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9" name="Image 3" descr="D:\Agent工作区\Claude Code工作区\综合实训项目\screenshots\admin-announcement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92040" y="3108960"/>
            <a:ext cx="3657600" cy="150876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892040" y="3108960"/>
            <a:ext cx="3657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892040" y="4645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公告管理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4892040" y="48737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发布/编辑系统公告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3200400" cy="3200400"/>
          </a:xfrm>
          <a:prstGeom prst="ellipse">
            <a:avLst/>
          </a:prstGeom>
          <a:solidFill>
            <a:srgbClr val="57A4B9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457200"/>
            <a:ext cx="1645920" cy="1645920"/>
          </a:xfrm>
          <a:prstGeom prst="ellipse">
            <a:avLst/>
          </a:prstGeom>
          <a:solidFill>
            <a:srgbClr val="57A4B9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73152" cy="1463040"/>
          </a:xfrm>
          <a:prstGeom prst="roundRect">
            <a:avLst>
              <a:gd name="adj" fmla="val 62500"/>
            </a:avLst>
          </a:prstGeom>
          <a:solidFill>
            <a:srgbClr val="57A4B9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57A4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3200400" y="13716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854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技术架构与核心设计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20040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&amp; DESIGN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技术架构总览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09728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29D38">
              <a:alpha val="88000"/>
            </a:srgbClr>
          </a:solidFill>
          <a:ln w="19050">
            <a:solidFill>
              <a:srgbClr val="F29D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972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+ Vite 8 用户前端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32004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localhost:5173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5029200" y="109728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29D38">
              <a:alpha val="88000"/>
            </a:srgbClr>
          </a:solidFill>
          <a:ln w="19050">
            <a:solidFill>
              <a:srgbClr val="F29D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0972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管理后台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0" y="1600200"/>
            <a:ext cx="32004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localhost:5174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0" y="17830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2057400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57A4B9">
              <a:alpha val="88000"/>
            </a:srgbClr>
          </a:solidFill>
          <a:ln w="19050">
            <a:solidFill>
              <a:srgbClr val="57A4B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0" y="20574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skill-gateway  统一入口 :8080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0" y="2743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▼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017520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29D38">
              <a:alpha val="25000"/>
            </a:srgbClr>
          </a:solidFill>
          <a:ln w="12700">
            <a:solidFill>
              <a:srgbClr val="F29D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94560" y="3017520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29D38">
              <a:alpha val="25000"/>
            </a:srgbClr>
          </a:solidFill>
          <a:ln w="12700">
            <a:solidFill>
              <a:srgbClr val="F29D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30175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3017520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29D38">
              <a:alpha val="25000"/>
            </a:srgbClr>
          </a:solidFill>
          <a:ln w="12700">
            <a:solidFill>
              <a:srgbClr val="F29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0175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017520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29D38">
              <a:alpha val="25000"/>
            </a:srgbClr>
          </a:solidFill>
          <a:ln w="12700">
            <a:solidFill>
              <a:srgbClr val="F29D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0175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3017520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29D38">
              <a:alpha val="25000"/>
            </a:srgbClr>
          </a:solidFill>
          <a:ln w="12700">
            <a:solidFill>
              <a:srgbClr val="F29D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0" y="30175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0" y="3017520"/>
            <a:ext cx="1097280" cy="502920"/>
          </a:xfrm>
          <a:prstGeom prst="roundRect">
            <a:avLst>
              <a:gd name="adj" fmla="val 10909"/>
            </a:avLst>
          </a:prstGeom>
          <a:solidFill>
            <a:srgbClr val="F29D38">
              <a:alpha val="25000"/>
            </a:srgbClr>
          </a:solidFill>
          <a:ln w="12700">
            <a:solidFill>
              <a:srgbClr val="F29D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0" y="3017520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0" y="35661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▼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86000" y="3840480"/>
            <a:ext cx="4572000" cy="502920"/>
          </a:xfrm>
          <a:prstGeom prst="roundRect">
            <a:avLst>
              <a:gd name="adj" fmla="val 14545"/>
            </a:avLst>
          </a:prstGeom>
          <a:solidFill>
            <a:srgbClr val="285460">
              <a:alpha val="88000"/>
            </a:srgbClr>
          </a:solidFill>
          <a:ln w="19050">
            <a:solidFill>
              <a:srgbClr val="2854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0" y="3840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8.0  (14张表)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4617720"/>
            <a:ext cx="1234440" cy="292608"/>
          </a:xfrm>
          <a:prstGeom prst="roundRect">
            <a:avLst>
              <a:gd name="adj" fmla="val 25000"/>
            </a:avLst>
          </a:prstGeom>
          <a:solidFill>
            <a:srgbClr val="FCFAF8"/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46177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3.2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148840" y="4617720"/>
            <a:ext cx="1234440" cy="292608"/>
          </a:xfrm>
          <a:prstGeom prst="roundRect">
            <a:avLst>
              <a:gd name="adj" fmla="val 25000"/>
            </a:avLst>
          </a:prstGeom>
          <a:solidFill>
            <a:srgbClr val="FCFAF8"/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48840" y="46177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MyBatis-Plus 3.5.5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566160" y="4617720"/>
            <a:ext cx="1234440" cy="292608"/>
          </a:xfrm>
          <a:prstGeom prst="roundRect">
            <a:avLst>
              <a:gd name="adj" fmla="val 25000"/>
            </a:avLst>
          </a:prstGeom>
          <a:solidFill>
            <a:srgbClr val="FCFAF8"/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66160" y="46177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JWT认证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983480" y="4617720"/>
            <a:ext cx="1234440" cy="292608"/>
          </a:xfrm>
          <a:prstGeom prst="roundRect">
            <a:avLst>
              <a:gd name="adj" fmla="val 25000"/>
            </a:avLst>
          </a:prstGeom>
          <a:solidFill>
            <a:srgbClr val="FCFAF8"/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83480" y="46177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 Plus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400800" y="4617720"/>
            <a:ext cx="1234440" cy="292608"/>
          </a:xfrm>
          <a:prstGeom prst="roundRect">
            <a:avLst>
              <a:gd name="adj" fmla="val 25000"/>
            </a:avLst>
          </a:prstGeom>
          <a:solidFill>
            <a:srgbClr val="FCFAF8"/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46177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Pinia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818120" y="4617720"/>
            <a:ext cx="1234440" cy="292608"/>
          </a:xfrm>
          <a:prstGeom prst="roundRect">
            <a:avLst>
              <a:gd name="adj" fmla="val 25000"/>
            </a:avLst>
          </a:prstGeom>
          <a:solidFill>
            <a:srgbClr val="FCFAF8"/>
          </a:solidFill>
          <a:ln w="6350">
            <a:solidFill>
              <a:srgbClr val="F0E8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18120" y="461772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Axios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关键技术亮点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64008" cy="1600200"/>
          </a:xfrm>
          <a:prstGeom prst="rect">
            <a:avLst/>
          </a:prstGeom>
          <a:solidFill>
            <a:srgbClr val="F29D3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JWT认证体系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7373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自定义@RequireAuth注解 + 全局拦截器</a:t>
            </a:r>
            <a:endParaRPr lang="en-US" sz="11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登录态管理，角色权限控制</a:t>
            </a:r>
            <a:endParaRPr lang="en-US" sz="11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Token自动续期与失效处理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188720"/>
            <a:ext cx="64008" cy="1600200"/>
          </a:xfrm>
          <a:prstGeom prst="rect">
            <a:avLst/>
          </a:prstGeom>
          <a:solidFill>
            <a:srgbClr val="57A4B9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订单状态机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92040" y="17373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待确认→进行中→待确认完成→已完成/已取消</a:t>
            </a:r>
            <a:endParaRPr lang="en-US" sz="11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时间币自动冻结/解冻/转账</a:t>
            </a:r>
            <a:endParaRPr lang="en-US" sz="11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双方确认机制保障交易安全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017520"/>
            <a:ext cx="64008" cy="1600200"/>
          </a:xfrm>
          <a:prstGeom prst="rect">
            <a:avLst/>
          </a:prstGeom>
          <a:solidFill>
            <a:srgbClr val="F05F42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546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雪花ID处理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35661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Snowflake算法生成分布式唯一ID</a:t>
            </a:r>
            <a:endParaRPr lang="en-US" sz="11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Jackson Long→String序列化</a:t>
            </a:r>
            <a:endParaRPr lang="en-US" sz="11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彻底解决前端JavaScript精度丢失问题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3017520"/>
            <a:ext cx="64008" cy="1600200"/>
          </a:xfrm>
          <a:prstGeom prst="rect">
            <a:avLst/>
          </a:prstGeom>
          <a:solidFill>
            <a:srgbClr val="57A4B9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31546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双盲评价机制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92040" y="356616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双方互评后立即可见评价内容</a:t>
            </a:r>
            <a:endParaRPr lang="en-US" sz="11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7天超时自动解盲</a:t>
            </a:r>
            <a:endParaRPr lang="en-US" sz="115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四维信誉雷达图(按时/沟通/专业/态度)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457200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325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user (用户)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1325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skill (技能)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172821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skill_category (分类)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0" y="172821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bounty (悬赏)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13055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bounty_application (申请)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213055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skill_order (订单)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25328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time_transaction (流水)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5328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review (评价)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293522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appeal (申诉)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0" y="293522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announcement (公告)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3337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private_message (私信)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0" y="33375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chat_message (聊天)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73989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user_follow (关注)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00400" y="373989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 notification (通知)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1188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7A4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技术要点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669280" y="1691640"/>
            <a:ext cx="29260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669280" y="1691640"/>
            <a:ext cx="54864" cy="548640"/>
          </a:xfrm>
          <a:prstGeom prst="rect">
            <a:avLst/>
          </a:prstGeom>
          <a:solidFill>
            <a:srgbClr val="57A4B9"/>
          </a:solidFill>
          <a:ln/>
        </p:spPr>
      </p:sp>
      <p:sp>
        <p:nvSpPr>
          <p:cNvPr id="21" name="Text 19"/>
          <p:cNvSpPr/>
          <p:nvPr/>
        </p:nvSpPr>
        <p:spPr>
          <a:xfrm>
            <a:off x="5897880" y="173736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雪花ID主键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97880" y="19659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分布式唯一，趋势递增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9280" y="2377440"/>
            <a:ext cx="29260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0" y="2377440"/>
            <a:ext cx="54864" cy="548640"/>
          </a:xfrm>
          <a:prstGeom prst="rect">
            <a:avLst/>
          </a:prstGeom>
          <a:solidFill>
            <a:srgbClr val="57A4B9"/>
          </a:solidFill>
          <a:ln/>
        </p:spPr>
      </p:sp>
      <p:sp>
        <p:nvSpPr>
          <p:cNvPr id="25" name="Text 23"/>
          <p:cNvSpPr/>
          <p:nvPr/>
        </p:nvSpPr>
        <p:spPr>
          <a:xfrm>
            <a:off x="5897880" y="242316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BCrypt加密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97880" y="2651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密码安全存储，防彩虹表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0" y="3063240"/>
            <a:ext cx="29260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69280" y="3063240"/>
            <a:ext cx="54864" cy="548640"/>
          </a:xfrm>
          <a:prstGeom prst="rect">
            <a:avLst/>
          </a:prstGeom>
          <a:solidFill>
            <a:srgbClr val="57A4B9"/>
          </a:solidFill>
          <a:ln/>
        </p:spPr>
      </p:sp>
      <p:sp>
        <p:nvSpPr>
          <p:cNvPr id="29" name="Text 27"/>
          <p:cNvSpPr/>
          <p:nvPr/>
        </p:nvSpPr>
        <p:spPr>
          <a:xfrm>
            <a:off x="5897880" y="310896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范式设计 (3NF)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97880" y="33375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消除数据冗余，保证一致性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0" y="3749040"/>
            <a:ext cx="29260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669280" y="3749040"/>
            <a:ext cx="54864" cy="548640"/>
          </a:xfrm>
          <a:prstGeom prst="rect">
            <a:avLst/>
          </a:prstGeom>
          <a:solidFill>
            <a:srgbClr val="57A4B9"/>
          </a:solidFill>
          <a:ln/>
        </p:spPr>
      </p:sp>
      <p:sp>
        <p:nvSpPr>
          <p:cNvPr id="33" name="Text 31"/>
          <p:cNvSpPr/>
          <p:nvPr/>
        </p:nvSpPr>
        <p:spPr>
          <a:xfrm>
            <a:off x="5897880" y="379476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BaseEntity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897880" y="40233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公共字段：id/createTime/updateTime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共14张表，完整覆盖业务需求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743200"/>
            <a:ext cx="3200400" cy="3200400"/>
          </a:xfrm>
          <a:prstGeom prst="ellipse">
            <a:avLst/>
          </a:prstGeom>
          <a:solidFill>
            <a:srgbClr val="F05F42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274320"/>
            <a:ext cx="1645920" cy="1645920"/>
          </a:xfrm>
          <a:prstGeom prst="ellipse">
            <a:avLst/>
          </a:prstGeom>
          <a:solidFill>
            <a:srgbClr val="F05F42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73152" cy="1463040"/>
          </a:xfrm>
          <a:prstGeom prst="roundRect">
            <a:avLst>
              <a:gd name="adj" fmla="val 62500"/>
            </a:avLst>
          </a:prstGeom>
          <a:solidFill>
            <a:srgbClr val="F05F4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9728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F05F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3200400" y="13716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854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项目总结与展望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20040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OUTLOOK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项目成果与AI辅助开发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56616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05840" y="1325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9D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8745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9D38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7个Maven模块全部编译通过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9D38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331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14张数据库表完整设计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7889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9D38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788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13+前端页面完整实现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2461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9D38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 API接口全覆盖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7033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9D38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703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8项课程交付物全部完成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1188720"/>
            <a:ext cx="3566160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20640" y="13258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7A4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AI辅助开发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120640" y="1883664"/>
            <a:ext cx="164592" cy="164592"/>
          </a:xfrm>
          <a:prstGeom prst="ellipse">
            <a:avLst/>
          </a:prstGeom>
          <a:solidFill>
            <a:srgbClr val="57A4B9"/>
          </a:solidFill>
          <a:ln/>
        </p:spPr>
      </p:sp>
      <p:sp>
        <p:nvSpPr>
          <p:cNvPr id="18" name="Text 16"/>
          <p:cNvSpPr/>
          <p:nvPr/>
        </p:nvSpPr>
        <p:spPr>
          <a:xfrm>
            <a:off x="5440680" y="1828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全流程AI辅助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40680" y="20574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使用Claude Code从零搭建项目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20640" y="2450592"/>
            <a:ext cx="164592" cy="164592"/>
          </a:xfrm>
          <a:prstGeom prst="ellipse">
            <a:avLst/>
          </a:prstGeom>
          <a:solidFill>
            <a:srgbClr val="57A4B9"/>
          </a:solidFill>
          <a:ln/>
        </p:spPr>
      </p:sp>
      <p:sp>
        <p:nvSpPr>
          <p:cNvPr id="21" name="Text 19"/>
          <p:cNvSpPr/>
          <p:nvPr/>
        </p:nvSpPr>
        <p:spPr>
          <a:xfrm>
            <a:off x="5440680" y="23957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多Agent协作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262432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开发/测试/文档Agent并行工作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20640" y="3017520"/>
            <a:ext cx="164592" cy="164592"/>
          </a:xfrm>
          <a:prstGeom prst="ellipse">
            <a:avLst/>
          </a:prstGeom>
          <a:solidFill>
            <a:srgbClr val="57A4B9"/>
          </a:solidFill>
          <a:ln/>
        </p:spPr>
      </p:sp>
      <p:sp>
        <p:nvSpPr>
          <p:cNvPr id="24" name="Text 22"/>
          <p:cNvSpPr/>
          <p:nvPr/>
        </p:nvSpPr>
        <p:spPr>
          <a:xfrm>
            <a:off x="5440680" y="296265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排坑驱动迭代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319125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30+排坑记录，持续优化代码质量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20640" y="3584448"/>
            <a:ext cx="164592" cy="164592"/>
          </a:xfrm>
          <a:prstGeom prst="ellipse">
            <a:avLst/>
          </a:prstGeom>
          <a:solidFill>
            <a:srgbClr val="57A4B9"/>
          </a:solidFill>
          <a:ln/>
        </p:spPr>
      </p:sp>
      <p:sp>
        <p:nvSpPr>
          <p:cNvPr id="27" name="Text 25"/>
          <p:cNvSpPr/>
          <p:nvPr/>
        </p:nvSpPr>
        <p:spPr>
          <a:xfrm>
            <a:off x="5440680" y="352958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融入课程要求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40680" y="375818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AI辅助开发满足课程设计规范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4480560"/>
            <a:ext cx="7680960" cy="411480"/>
          </a:xfrm>
          <a:prstGeom prst="roundRect">
            <a:avLst>
              <a:gd name="adj" fmla="val 22222"/>
            </a:avLst>
          </a:prstGeom>
          <a:solidFill>
            <a:srgbClr val="D4EDF0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48056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7A4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课程要求全部满足：分层架构  |  前后端分离  |  14张表  |  JWT认证  |  Git版本管理  |  AI融入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457200"/>
            <a:ext cx="2743200" cy="2743200"/>
          </a:xfrm>
          <a:prstGeom prst="ellipse">
            <a:avLst/>
          </a:prstGeom>
          <a:solidFill>
            <a:srgbClr val="57A4B9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74320" y="2286000"/>
            <a:ext cx="1828800" cy="1828800"/>
          </a:xfrm>
          <a:prstGeom prst="ellipse">
            <a:avLst/>
          </a:prstGeom>
          <a:solidFill>
            <a:srgbClr val="F29D38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F29D38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1828800"/>
            <a:ext cx="2286000" cy="2286000"/>
          </a:xfrm>
          <a:prstGeom prst="ellipse">
            <a:avLst/>
          </a:prstGeom>
          <a:solidFill>
            <a:srgbClr val="57A4B9">
              <a:alpha val="1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0" y="22860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5F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200400" y="3200400"/>
            <a:ext cx="2743200" cy="27432"/>
          </a:xfrm>
          <a:prstGeom prst="rect">
            <a:avLst/>
          </a:prstGeom>
          <a:solidFill>
            <a:srgbClr val="BBBBBB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指导教师：刘德才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3931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第10组全体成员：郑朴  ·  吴仁杰  ·  黄煜乾  ·  胡子风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0" y="43891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Prometheus——技能时间银行  ·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Prometheus——技能时间银行</dc:title>
  <dc:subject>PptxGenJS Presentation</dc:subject>
  <dc:creator>第10组</dc:creator>
  <cp:lastModifiedBy>第10组</cp:lastModifiedBy>
  <cp:revision>1</cp:revision>
  <dcterms:created xsi:type="dcterms:W3CDTF">2026-05-14T13:53:39Z</dcterms:created>
  <dcterms:modified xsi:type="dcterms:W3CDTF">2026-05-14T13:53:39Z</dcterms:modified>
</cp:coreProperties>
</file>