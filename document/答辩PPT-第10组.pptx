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548640"/>
            <a:ext cx="3200400" cy="3200400"/>
          </a:xfrm>
          <a:prstGeom prst="ellipse">
            <a:avLst/>
          </a:prstGeom>
          <a:solidFill>
            <a:srgbClr val="F29D3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1645920"/>
            <a:ext cx="2560320" cy="2560320"/>
          </a:xfrm>
          <a:prstGeom prst="ellipse">
            <a:avLst/>
          </a:prstGeom>
          <a:solidFill>
            <a:srgbClr val="57A4B9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200400"/>
            <a:ext cx="1828800" cy="1828800"/>
          </a:xfrm>
          <a:prstGeom prst="ellipse">
            <a:avLst/>
          </a:prstGeom>
          <a:solidFill>
            <a:srgbClr val="57A4B9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-274320"/>
            <a:ext cx="1097280" cy="1097280"/>
          </a:xfrm>
          <a:prstGeom prst="ellipse">
            <a:avLst/>
          </a:prstGeom>
          <a:solidFill>
            <a:srgbClr val="F29D38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2743200"/>
            <a:ext cx="274320" cy="731520"/>
          </a:xfrm>
          <a:prstGeom prst="roundRect">
            <a:avLst>
              <a:gd name="adj" fmla="val 16667"/>
            </a:avLst>
          </a:prstGeom>
          <a:solidFill>
            <a:srgbClr val="F05F42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1508760"/>
          </a:xfrm>
          <a:prstGeom prst="rect">
            <a:avLst/>
          </a:prstGeom>
          <a:solidFill>
            <a:srgbClr val="F29D3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9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技能时间银行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以时间币为核心的技能互助平台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第10组  |  指导教师：刘德才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海南大学课程设计答辩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645920" cy="1645920"/>
          </a:xfrm>
          <a:prstGeom prst="ellipse">
            <a:avLst/>
          </a:prstGeom>
          <a:solidFill>
            <a:srgbClr val="F29D3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474720"/>
            <a:ext cx="1828800" cy="1828800"/>
          </a:xfrm>
          <a:prstGeom prst="ellipse">
            <a:avLst/>
          </a:prstGeom>
          <a:solidFill>
            <a:srgbClr val="57A4B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1600200"/>
            <a:ext cx="685800" cy="685800"/>
          </a:xfrm>
          <a:prstGeom prst="ellipse">
            <a:avLst/>
          </a:prstGeom>
          <a:solidFill>
            <a:srgbClr val="F29D38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157276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项目概述与团队分工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56032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项目背景、核心功能、团队成员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65176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0" y="2788920"/>
            <a:ext cx="685800" cy="685800"/>
          </a:xfrm>
          <a:prstGeom prst="ellipse">
            <a:avLst/>
          </a:prstGeom>
          <a:solidFill>
            <a:srgbClr val="57A4B9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788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27614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技术架构与核心设计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56032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技术栈、架构设计、数据库、关键亮点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84048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45920" y="3977640"/>
            <a:ext cx="685800" cy="685800"/>
          </a:xfrm>
          <a:prstGeom prst="ellipse">
            <a:avLst/>
          </a:prstGeom>
          <a:solidFill>
            <a:srgbClr val="F05F42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60320" y="395020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项目总结与展望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560320" y="4343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项目成果、AI辅助开发、未来规划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F29D3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-457200"/>
            <a:ext cx="1463040" cy="1463040"/>
          </a:xfrm>
          <a:prstGeom prst="ellipse">
            <a:avLst/>
          </a:prstGeom>
          <a:solidFill>
            <a:srgbClr val="F29D3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1463040"/>
          </a:xfrm>
          <a:prstGeom prst="roundRect">
            <a:avLst>
              <a:gd name="adj" fmla="val 62500"/>
            </a:avLst>
          </a:prstGeom>
          <a:solidFill>
            <a:srgbClr val="57A4B9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29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85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项目概述与团队分工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TEAM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项目背景与意义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在大学生群体中，技能不对称现象普遍存在——有人擅长设计却闲置能力，有人急需技术指导却无从获取。如何有效连接技能供给与需求，让每个人的才华都能产生价值？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05F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痛点分析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40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技能闲置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4871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大量技能持有者没有变现渠道，能力被困置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8620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交易门槛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传统技能交易流程复杂，时间成本与金钱成本高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48386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7307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陌生人之间缺乏信用背书，交易风险难以评估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7A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我们的方案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37760" y="210312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2240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时间币体系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4871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以时间币量化技能价值，拒绝金钱交易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8620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共享平台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3108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一站式技能发布与交易，降低中间成本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348386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信誉机制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37307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双盲评价+四维雷达图，建立可信社区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731520"/>
            <a:ext cx="914400" cy="914400"/>
          </a:xfrm>
          <a:prstGeom prst="ellipse">
            <a:avLst/>
          </a:prstGeom>
          <a:solidFill>
            <a:srgbClr val="57A4B9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840480"/>
            <a:ext cx="640080" cy="640080"/>
          </a:xfrm>
          <a:prstGeom prst="ellipse">
            <a:avLst/>
          </a:prstGeom>
          <a:solidFill>
            <a:srgbClr val="F05F42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297680"/>
            <a:ext cx="7680960" cy="411480"/>
          </a:xfrm>
          <a:prstGeom prst="roundRect">
            <a:avLst>
              <a:gd name="adj" fmla="val 22222"/>
            </a:avLst>
          </a:prstGeom>
          <a:solidFill>
            <a:srgbClr val="FDE8D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976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学你想学，教你想教，一个用时间币串起技能供需的互助社区。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07380" y="1298448"/>
            <a:ext cx="1145560" cy="689458"/>
          </a:xfrm>
          <a:prstGeom prst="ellipse">
            <a:avLst/>
          </a:prstGeom>
          <a:solidFill>
            <a:srgbClr val="3D1C0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298448"/>
            <a:ext cx="1060704" cy="1060704"/>
          </a:xfrm>
          <a:prstGeom prst="ellipse">
            <a:avLst/>
          </a:prstGeom>
          <a:solidFill>
            <a:srgbClr val="FFE0C0"/>
          </a:solidFill>
          <a:ln/>
        </p:spPr>
      </p:sp>
      <p:sp>
        <p:nvSpPr>
          <p:cNvPr id="6" name="Shape 4"/>
          <p:cNvSpPr/>
          <p:nvPr/>
        </p:nvSpPr>
        <p:spPr>
          <a:xfrm>
            <a:off x="1094537" y="1733337"/>
            <a:ext cx="95463" cy="95463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7" name="Shape 5"/>
          <p:cNvSpPr/>
          <p:nvPr/>
        </p:nvSpPr>
        <p:spPr>
          <a:xfrm>
            <a:off x="1370320" y="1733337"/>
            <a:ext cx="95463" cy="95463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8" name="Shape 6"/>
          <p:cNvSpPr/>
          <p:nvPr/>
        </p:nvSpPr>
        <p:spPr>
          <a:xfrm>
            <a:off x="988466" y="187122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65783" y="187122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" y="1908353"/>
            <a:ext cx="265176" cy="95463"/>
          </a:xfrm>
          <a:prstGeom prst="ellipse">
            <a:avLst/>
          </a:prstGeom>
          <a:solidFill>
            <a:srgbClr val="E8907A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1054" y="1871228"/>
            <a:ext cx="318211" cy="132588"/>
          </a:xfrm>
          <a:prstGeom prst="ellipse">
            <a:avLst/>
          </a:prstGeom>
          <a:solidFill>
            <a:srgbClr val="FFE0C0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463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920240" y="17647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9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项目负责人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负责整体需求分析与功能规划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制定开发计划与进度管理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设计后端分层架构与多模块划分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协调团队任务、把控项目方向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39300" y="1298448"/>
            <a:ext cx="1145560" cy="689458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4681728" y="1298448"/>
            <a:ext cx="1060704" cy="1060704"/>
          </a:xfrm>
          <a:prstGeom prst="ellipse">
            <a:avLst/>
          </a:prstGeom>
          <a:solidFill>
            <a:srgbClr val="FFD8B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6457" y="1733337"/>
            <a:ext cx="95463" cy="95463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19" name="Shape 17"/>
          <p:cNvSpPr/>
          <p:nvPr/>
        </p:nvSpPr>
        <p:spPr>
          <a:xfrm>
            <a:off x="5302240" y="1733337"/>
            <a:ext cx="95463" cy="95463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20" name="Shape 18"/>
          <p:cNvSpPr/>
          <p:nvPr/>
        </p:nvSpPr>
        <p:spPr>
          <a:xfrm>
            <a:off x="4920386" y="187122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397703" y="187122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079492" y="1908353"/>
            <a:ext cx="265176" cy="95463"/>
          </a:xfrm>
          <a:prstGeom prst="ellipse">
            <a:avLst/>
          </a:prstGeom>
          <a:solidFill>
            <a:srgbClr val="E8907A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52974" y="1871228"/>
            <a:ext cx="318211" cy="132588"/>
          </a:xfrm>
          <a:prstGeom prst="ellipse">
            <a:avLst/>
          </a:prstGeom>
          <a:solidFill>
            <a:srgbClr val="FFD8B8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1463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吴仁杰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852160" y="17647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7A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后端+前端开发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7模块后端开发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Element Plus前端实现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14张数据库表结构设计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API接口开发与前后端联调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29260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7380" y="3081528"/>
            <a:ext cx="1145560" cy="689458"/>
          </a:xfrm>
          <a:prstGeom prst="ellipse">
            <a:avLst/>
          </a:prstGeom>
          <a:solidFill>
            <a:srgbClr val="4A3020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" y="3081528"/>
            <a:ext cx="1060704" cy="1060704"/>
          </a:xfrm>
          <a:prstGeom prst="ellipse">
            <a:avLst/>
          </a:prstGeom>
          <a:solidFill>
            <a:srgbClr val="FFE8D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4537" y="3516417"/>
            <a:ext cx="95463" cy="95463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0320" y="3516417"/>
            <a:ext cx="95463" cy="95463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32" name="Shape 30"/>
          <p:cNvSpPr/>
          <p:nvPr/>
        </p:nvSpPr>
        <p:spPr>
          <a:xfrm>
            <a:off x="988466" y="365430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65783" y="365430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47572" y="3691433"/>
            <a:ext cx="265176" cy="95463"/>
          </a:xfrm>
          <a:prstGeom prst="ellipse">
            <a:avLst/>
          </a:prstGeom>
          <a:solidFill>
            <a:srgbClr val="E8907A">
              <a:alpha val="7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21054" y="3654308"/>
            <a:ext cx="318211" cy="132588"/>
          </a:xfrm>
          <a:prstGeom prst="ellipse">
            <a:avLst/>
          </a:prstGeom>
          <a:solidFill>
            <a:srgbClr val="FFE8D0"/>
          </a:solidFill>
          <a:ln/>
        </p:spPr>
      </p:sp>
      <p:sp>
        <p:nvSpPr>
          <p:cNvPr id="36" name="Text 34"/>
          <p:cNvSpPr/>
          <p:nvPr/>
        </p:nvSpPr>
        <p:spPr>
          <a:xfrm>
            <a:off x="192024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黄煜乾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920240" y="35478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F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文档+PPT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SRS需求规格说明编写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详细设计文档与ER图绘制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答辩PPT制作与视觉设计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部署说明文档编写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9260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39300" y="3081528"/>
            <a:ext cx="1145560" cy="689458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41" name="Shape 39"/>
          <p:cNvSpPr/>
          <p:nvPr/>
        </p:nvSpPr>
        <p:spPr>
          <a:xfrm>
            <a:off x="4681728" y="3081528"/>
            <a:ext cx="1060704" cy="1060704"/>
          </a:xfrm>
          <a:prstGeom prst="ellipse">
            <a:avLst/>
          </a:prstGeom>
          <a:solidFill>
            <a:srgbClr val="FFDCC0"/>
          </a:solidFill>
          <a:ln/>
        </p:spPr>
      </p:sp>
      <p:sp>
        <p:nvSpPr>
          <p:cNvPr id="42" name="Shape 40"/>
          <p:cNvSpPr/>
          <p:nvPr/>
        </p:nvSpPr>
        <p:spPr>
          <a:xfrm>
            <a:off x="5026457" y="3516417"/>
            <a:ext cx="95463" cy="95463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43" name="Shape 41"/>
          <p:cNvSpPr/>
          <p:nvPr/>
        </p:nvSpPr>
        <p:spPr>
          <a:xfrm>
            <a:off x="5302240" y="3516417"/>
            <a:ext cx="95463" cy="95463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44" name="Shape 42"/>
          <p:cNvSpPr/>
          <p:nvPr/>
        </p:nvSpPr>
        <p:spPr>
          <a:xfrm>
            <a:off x="4920386" y="365430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97703" y="365430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79492" y="3691433"/>
            <a:ext cx="265176" cy="95463"/>
          </a:xfrm>
          <a:prstGeom prst="ellipse">
            <a:avLst/>
          </a:prstGeom>
          <a:solidFill>
            <a:srgbClr val="E8907A">
              <a:alpha val="7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052974" y="3654308"/>
            <a:ext cx="318211" cy="132588"/>
          </a:xfrm>
          <a:prstGeom prst="ellipse">
            <a:avLst/>
          </a:prstGeom>
          <a:solidFill>
            <a:srgbClr val="FFDCC0"/>
          </a:solidFill>
          <a:ln/>
        </p:spPr>
      </p:sp>
      <p:sp>
        <p:nvSpPr>
          <p:cNvPr id="48" name="Text 46"/>
          <p:cNvSpPr/>
          <p:nvPr/>
        </p:nvSpPr>
        <p:spPr>
          <a:xfrm>
            <a:off x="585216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胡子风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5852160" y="35478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7A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3776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功能测试用例编写与执行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API接口测试与回归验证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Bug发现、跟踪与修复确认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用户体验测试与改进建议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4人协作团队  ·  前后端分离开发  ·  明确分工、高效协作、共同推进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覆盖技能交易全流程，从发布到评价的闭环体验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2940" y="941832"/>
            <a:ext cx="2423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2768" y="1143000"/>
            <a:ext cx="603504" cy="603504"/>
          </a:xfrm>
          <a:prstGeom prst="ellipse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7083" y="1197315"/>
            <a:ext cx="494873" cy="49487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72768" y="11430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" b="1" dirty="0">
                <a:solidFill>
                  <a:srgbClr val="F29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</a:t>
            </a:r>
            <a:endParaRPr lang="en-US" sz="36" dirty="0"/>
          </a:p>
        </p:txBody>
      </p:sp>
      <p:sp>
        <p:nvSpPr>
          <p:cNvPr id="8" name="Text 6"/>
          <p:cNvSpPr/>
          <p:nvPr/>
        </p:nvSpPr>
        <p:spPr>
          <a:xfrm>
            <a:off x="754380" y="18105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技能广场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0100" y="20848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分类浏览、关键词搜索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支持技能发布、编辑与下架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热门排序与分页加载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06140" y="941832"/>
            <a:ext cx="2423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1143000"/>
            <a:ext cx="603504" cy="603504"/>
          </a:xfrm>
          <a:prstGeom prst="ellipse">
            <a:avLst/>
          </a:prstGeom>
          <a:solidFill>
            <a:srgbClr val="57A4B9"/>
          </a:solidFill>
          <a:ln w="12700">
            <a:solidFill>
              <a:srgbClr val="57A4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283" y="1197315"/>
            <a:ext cx="494873" cy="49487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15968" y="11430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" b="1" dirty="0">
                <a:solidFill>
                  <a:srgbClr val="57A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赏</a:t>
            </a:r>
            <a:endParaRPr lang="en-US" sz="36" dirty="0"/>
          </a:p>
        </p:txBody>
      </p:sp>
      <p:sp>
        <p:nvSpPr>
          <p:cNvPr id="14" name="Text 12"/>
          <p:cNvSpPr/>
          <p:nvPr/>
        </p:nvSpPr>
        <p:spPr>
          <a:xfrm>
            <a:off x="3497580" y="18105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需求悬赏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43300" y="20848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发布需求并设置时间币悬赏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多人申请，发布者挑选并验收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验收通过即转币，安全有保障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9340" y="941832"/>
            <a:ext cx="2423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59168" y="1143000"/>
            <a:ext cx="603504" cy="603504"/>
          </a:xfrm>
          <a:prstGeom prst="ellipse">
            <a:avLst/>
          </a:prstGeom>
          <a:solidFill>
            <a:srgbClr val="F05F42"/>
          </a:solidFill>
          <a:ln w="12700">
            <a:solidFill>
              <a:srgbClr val="F05F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3483" y="1197315"/>
            <a:ext cx="494873" cy="49487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059168" y="11430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" b="1" dirty="0">
                <a:solidFill>
                  <a:srgbClr val="F05F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币</a:t>
            </a:r>
            <a:endParaRPr lang="en-US" sz="36" dirty="0"/>
          </a:p>
        </p:txBody>
      </p:sp>
      <p:sp>
        <p:nvSpPr>
          <p:cNvPr id="20" name="Text 18"/>
          <p:cNvSpPr/>
          <p:nvPr/>
        </p:nvSpPr>
        <p:spPr>
          <a:xfrm>
            <a:off x="6240780" y="18105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时间银行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86500" y="20848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钱包余额实时查询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时间币收入/支出流水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下单冻结、取消解冻自动管理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" y="2724912"/>
            <a:ext cx="2423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572768" y="2926080"/>
            <a:ext cx="603504" cy="603504"/>
          </a:xfrm>
          <a:prstGeom prst="ellipse">
            <a:avLst/>
          </a:prstGeom>
          <a:solidFill>
            <a:srgbClr val="57A4B9"/>
          </a:solidFill>
          <a:ln w="12700">
            <a:solidFill>
              <a:srgbClr val="57A4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27083" y="2980395"/>
            <a:ext cx="494873" cy="49487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572768" y="292608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" b="1" dirty="0">
                <a:solidFill>
                  <a:srgbClr val="57A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</a:t>
            </a:r>
            <a:endParaRPr lang="en-US" sz="36" dirty="0"/>
          </a:p>
        </p:txBody>
      </p:sp>
      <p:sp>
        <p:nvSpPr>
          <p:cNvPr id="26" name="Text 24"/>
          <p:cNvSpPr/>
          <p:nvPr/>
        </p:nvSpPr>
        <p:spPr>
          <a:xfrm>
            <a:off x="754380" y="35935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订单交易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0100" y="38679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下单→待确认→进行中→验收→完成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5态状态机严格流转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双方协商、取消退款机制完善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06140" y="2724912"/>
            <a:ext cx="2423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15968" y="2926080"/>
            <a:ext cx="603504" cy="603504"/>
          </a:xfrm>
          <a:prstGeom prst="ellipse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283" y="2980395"/>
            <a:ext cx="494873" cy="49487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315968" y="292608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" b="1" dirty="0">
                <a:solidFill>
                  <a:srgbClr val="F29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36" dirty="0"/>
          </a:p>
        </p:txBody>
      </p:sp>
      <p:sp>
        <p:nvSpPr>
          <p:cNvPr id="32" name="Text 30"/>
          <p:cNvSpPr/>
          <p:nvPr/>
        </p:nvSpPr>
        <p:spPr>
          <a:xfrm>
            <a:off x="3497580" y="35935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双盲评价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43300" y="38679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交易后双方互评，写完可见对方评价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7天自动解盲机制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四维信誉雷达图：按时/沟通/专业/态度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49340" y="2724912"/>
            <a:ext cx="2423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59168" y="2926080"/>
            <a:ext cx="603504" cy="603504"/>
          </a:xfrm>
          <a:prstGeom prst="ellipse">
            <a:avLst/>
          </a:prstGeom>
          <a:solidFill>
            <a:srgbClr val="F05F42"/>
          </a:solidFill>
          <a:ln w="12700">
            <a:solidFill>
              <a:srgbClr val="F05F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13483" y="2980395"/>
            <a:ext cx="494873" cy="49487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059168" y="292608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" b="1" dirty="0">
                <a:solidFill>
                  <a:srgbClr val="F05F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</a:t>
            </a:r>
            <a:endParaRPr lang="en-US" sz="36" dirty="0"/>
          </a:p>
        </p:txBody>
      </p:sp>
      <p:sp>
        <p:nvSpPr>
          <p:cNvPr id="38" name="Text 36"/>
          <p:cNvSpPr/>
          <p:nvPr/>
        </p:nvSpPr>
        <p:spPr>
          <a:xfrm>
            <a:off x="6240780" y="35935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86500" y="38679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用户管理（启用/禁用）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技能审核（通过/拒绝）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申诉处理与公告发布管理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功能展示 — 用户端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24231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97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技能广场首页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0515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83280" y="1097280"/>
            <a:ext cx="24231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697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技能详情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0515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097280"/>
            <a:ext cx="24231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697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私信聊天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01752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63240"/>
            <a:ext cx="24231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63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时间钱包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301752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3063240"/>
            <a:ext cx="24231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663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订单详情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301752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3063240"/>
            <a:ext cx="24231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4663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功能展示 — 管理后台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36576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33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8620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启用/禁用用户账号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92040" y="1097280"/>
            <a:ext cx="36576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633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技能审核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28620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通过/拒绝技能发布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06324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108960"/>
            <a:ext cx="36576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45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申诉处理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8737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处理用户交易申诉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306324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3108960"/>
            <a:ext cx="36576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4645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公告管理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48737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发布/编辑系统公告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57A4B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457200"/>
            <a:ext cx="1645920" cy="1645920"/>
          </a:xfrm>
          <a:prstGeom prst="ellipse">
            <a:avLst/>
          </a:prstGeom>
          <a:solidFill>
            <a:srgbClr val="57A4B9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1463040"/>
          </a:xfrm>
          <a:prstGeom prst="roundRect">
            <a:avLst>
              <a:gd name="adj" fmla="val 62500"/>
            </a:avLst>
          </a:prstGeom>
          <a:solidFill>
            <a:srgbClr val="57A4B9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57A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85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技术架构与核心设计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DESIGN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技术架构总览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29D38">
              <a:alpha val="88000"/>
            </a:srgbClr>
          </a:solidFill>
          <a:ln w="19050">
            <a:solidFill>
              <a:srgbClr val="F29D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Vite 8 用户前端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localhost:5173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029200" y="109728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29D38">
              <a:alpha val="88000"/>
            </a:srgbClr>
          </a:solidFill>
          <a:ln w="19050">
            <a:solidFill>
              <a:srgbClr val="F29D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0972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管理后台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localhost:5174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0" y="1783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205740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57A4B9">
              <a:alpha val="88000"/>
            </a:srgbClr>
          </a:solidFill>
          <a:ln w="19050">
            <a:solidFill>
              <a:srgbClr val="57A4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057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skill-gateway  统一入口 :8080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2743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017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29D38">
              <a:alpha val="25000"/>
            </a:srgbClr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3017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29D38">
              <a:alpha val="25000"/>
            </a:srgbClr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3017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29D38">
              <a:alpha val="25000"/>
            </a:srgbClr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29D38">
              <a:alpha val="25000"/>
            </a:srgbClr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3017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29D38">
              <a:alpha val="25000"/>
            </a:srgbClr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3017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29D38">
              <a:alpha val="25000"/>
            </a:srgbClr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3566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86000" y="384048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285460">
              <a:alpha val="88000"/>
            </a:srgbClr>
          </a:solidFill>
          <a:ln w="19050">
            <a:solidFill>
              <a:srgbClr val="285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3840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  (14张表)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6177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CFAF8"/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6177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48840" y="46177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CFAF8"/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46177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MyBatis-Plus 3.5.5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66160" y="46177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CFAF8"/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46177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JWT认证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83480" y="46177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CFAF8"/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6177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Plus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46177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CFAF8"/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46177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818120" y="46177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CFAF8"/>
          </a:solidFill>
          <a:ln w="6350">
            <a:solidFill>
              <a:srgbClr val="F0E8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46177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关键技术亮点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64008" cy="1600200"/>
          </a:xfrm>
          <a:prstGeom prst="rect">
            <a:avLst/>
          </a:prstGeom>
          <a:solidFill>
            <a:srgbClr val="F29D3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JWT认证体系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自定义@RequireAuth注解 + 全局拦截器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登录态管理，角色权限控制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Token自动续期与失效处理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188720"/>
            <a:ext cx="64008" cy="1600200"/>
          </a:xfrm>
          <a:prstGeom prst="rect">
            <a:avLst/>
          </a:prstGeom>
          <a:solidFill>
            <a:srgbClr val="57A4B9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待确认→进行中→待确认完成→已完成/已取消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时间币自动冻结/解冻/转账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双方确认机制保障交易安全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17520"/>
            <a:ext cx="64008" cy="1600200"/>
          </a:xfrm>
          <a:prstGeom prst="rect">
            <a:avLst/>
          </a:prstGeom>
          <a:solidFill>
            <a:srgbClr val="F05F42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54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雪花ID处理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5661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Snowflake算法生成分布式唯一ID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Jackson Long→String序列化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彻底解决前端JavaScript精度丢失问题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017520"/>
            <a:ext cx="64008" cy="1600200"/>
          </a:xfrm>
          <a:prstGeom prst="rect">
            <a:avLst/>
          </a:prstGeom>
          <a:solidFill>
            <a:srgbClr val="57A4B9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154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双盲评价机制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5661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双方互评后立即可见评价内容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7天超时自动解盲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四维信誉雷达图(按时/沟通/专业/态度)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25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user (用户)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325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skill (技能)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7282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skill_category (分类)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7282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bounty (悬赏)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1305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bounty_application (申请)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1305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skill_order (订单)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532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time_transaction (流水)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532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review (评价)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9352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appeal (申诉)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9352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announcement (公告)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private_message (私信)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chat_message (聊天)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7398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user_follow (关注)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7398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notification (通知)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7A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技术要点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69280" y="1691640"/>
            <a:ext cx="29260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1691640"/>
            <a:ext cx="54864" cy="548640"/>
          </a:xfrm>
          <a:prstGeom prst="rect">
            <a:avLst/>
          </a:prstGeom>
          <a:solidFill>
            <a:srgbClr val="57A4B9"/>
          </a:solidFill>
          <a:ln/>
        </p:spPr>
      </p:sp>
      <p:sp>
        <p:nvSpPr>
          <p:cNvPr id="21" name="Text 19"/>
          <p:cNvSpPr/>
          <p:nvPr/>
        </p:nvSpPr>
        <p:spPr>
          <a:xfrm>
            <a:off x="5897880" y="1737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雪花ID主键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97880" y="19659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分布式唯一，趋势递增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2377440"/>
            <a:ext cx="29260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2377440"/>
            <a:ext cx="54864" cy="548640"/>
          </a:xfrm>
          <a:prstGeom prst="rect">
            <a:avLst/>
          </a:prstGeom>
          <a:solidFill>
            <a:srgbClr val="57A4B9"/>
          </a:solidFill>
          <a:ln/>
        </p:spPr>
      </p:sp>
      <p:sp>
        <p:nvSpPr>
          <p:cNvPr id="25" name="Text 23"/>
          <p:cNvSpPr/>
          <p:nvPr/>
        </p:nvSpPr>
        <p:spPr>
          <a:xfrm>
            <a:off x="5897880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BCrypt加密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97880" y="2651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密码安全存储，防彩虹表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3063240"/>
            <a:ext cx="29260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3063240"/>
            <a:ext cx="54864" cy="548640"/>
          </a:xfrm>
          <a:prstGeom prst="rect">
            <a:avLst/>
          </a:prstGeom>
          <a:solidFill>
            <a:srgbClr val="57A4B9"/>
          </a:solidFill>
          <a:ln/>
        </p:spPr>
      </p:sp>
      <p:sp>
        <p:nvSpPr>
          <p:cNvPr id="29" name="Text 27"/>
          <p:cNvSpPr/>
          <p:nvPr/>
        </p:nvSpPr>
        <p:spPr>
          <a:xfrm>
            <a:off x="5897880" y="31089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范式设计 (3NF)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97880" y="3337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消除数据冗余，保证一致性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749040"/>
            <a:ext cx="29260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0" y="3749040"/>
            <a:ext cx="54864" cy="548640"/>
          </a:xfrm>
          <a:prstGeom prst="rect">
            <a:avLst/>
          </a:prstGeom>
          <a:solidFill>
            <a:srgbClr val="57A4B9"/>
          </a:solidFill>
          <a:ln/>
        </p:spPr>
      </p:sp>
      <p:sp>
        <p:nvSpPr>
          <p:cNvPr id="33" name="Text 31"/>
          <p:cNvSpPr/>
          <p:nvPr/>
        </p:nvSpPr>
        <p:spPr>
          <a:xfrm>
            <a:off x="5897880" y="3794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BaseEntity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97880" y="4023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公共字段：id/createTime/updateTime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共14张表，完整覆盖业务需求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F05F4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274320"/>
            <a:ext cx="1645920" cy="1645920"/>
          </a:xfrm>
          <a:prstGeom prst="ellipse">
            <a:avLst/>
          </a:prstGeom>
          <a:solidFill>
            <a:srgbClr val="F05F42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1463040"/>
          </a:xfrm>
          <a:prstGeom prst="roundRect">
            <a:avLst>
              <a:gd name="adj" fmla="val 62500"/>
            </a:avLst>
          </a:prstGeom>
          <a:solidFill>
            <a:srgbClr val="F05F42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05F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85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项目总结与展望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OUTLOOK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项目成果与AI辅助开发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9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9D38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7个Maven模块全部编译通过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9D38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14张数据库表完整设计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788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9D38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13+前端页面完整实现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9D38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 API接口全覆盖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703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9D38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8项课程交付物全部完成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7A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AI辅助开发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0" y="1883664"/>
            <a:ext cx="164592" cy="164592"/>
          </a:xfrm>
          <a:prstGeom prst="ellipse">
            <a:avLst/>
          </a:prstGeom>
          <a:solidFill>
            <a:srgbClr val="57A4B9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828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全流程AI辅助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057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使用Claude Code从零搭建项目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2450592"/>
            <a:ext cx="164592" cy="164592"/>
          </a:xfrm>
          <a:prstGeom prst="ellipse">
            <a:avLst/>
          </a:prstGeom>
          <a:solidFill>
            <a:srgbClr val="57A4B9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2395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多Agent协作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6243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开发/测试/文档Agent并行工作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3017520"/>
            <a:ext cx="164592" cy="164592"/>
          </a:xfrm>
          <a:prstGeom prst="ellipse">
            <a:avLst/>
          </a:prstGeom>
          <a:solidFill>
            <a:srgbClr val="57A4B9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29626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排坑驱动迭代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31912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30+排坑记录，持续优化代码质量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3584448"/>
            <a:ext cx="164592" cy="164592"/>
          </a:xfrm>
          <a:prstGeom prst="ellipse">
            <a:avLst/>
          </a:prstGeom>
          <a:solidFill>
            <a:srgbClr val="57A4B9"/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35295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融入课程要求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37581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AI辅助开发满足课程设计规范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4480560"/>
            <a:ext cx="7680960" cy="411480"/>
          </a:xfrm>
          <a:prstGeom prst="roundRect">
            <a:avLst>
              <a:gd name="adj" fmla="val 22222"/>
            </a:avLst>
          </a:prstGeom>
          <a:solidFill>
            <a:srgbClr val="D4EDF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A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课程要求全部满足：分层架构  |  前后端分离  |  14张表  |  JWT认证  |  Git版本管理  |  AI融入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57A4B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2286000"/>
            <a:ext cx="1828800" cy="1828800"/>
          </a:xfrm>
          <a:prstGeom prst="ellipse">
            <a:avLst/>
          </a:prstGeom>
          <a:solidFill>
            <a:srgbClr val="F29D3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F29D3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1828800"/>
            <a:ext cx="2286000" cy="2286000"/>
          </a:xfrm>
          <a:prstGeom prst="ellipse">
            <a:avLst/>
          </a:prstGeom>
          <a:solidFill>
            <a:srgbClr val="57A4B9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0" y="2286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5F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3520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指导教师：刘德才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第10组全体成员：郑朴  ·  吴仁杰  ·  黄煜乾  ·  胡子风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4389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Prometheus——技能时间银行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Prometheus——技能时间银行</dc:title>
  <dc:subject>PptxGenJS Presentation</dc:subject>
  <dc:creator>第10组</dc:creator>
  <cp:lastModifiedBy>第10组</cp:lastModifiedBy>
  <cp:revision>1</cp:revision>
  <dcterms:created xsi:type="dcterms:W3CDTF">2026-05-14T14:44:36Z</dcterms:created>
  <dcterms:modified xsi:type="dcterms:W3CDTF">2026-05-14T14:44:36Z</dcterms:modified>
</cp:coreProperties>
</file>